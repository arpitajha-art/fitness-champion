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4" r:id="rId2"/>
    <p:sldId id="256" r:id="rId3"/>
    <p:sldId id="275" r:id="rId4"/>
    <p:sldId id="257" r:id="rId5"/>
    <p:sldId id="270" r:id="rId6"/>
    <p:sldId id="258" r:id="rId7"/>
    <p:sldId id="272" r:id="rId8"/>
    <p:sldId id="276" r:id="rId9"/>
    <p:sldId id="273" r:id="rId10"/>
    <p:sldId id="261" r:id="rId11"/>
    <p:sldId id="262" r:id="rId12"/>
    <p:sldId id="277" r:id="rId13"/>
    <p:sldId id="278" r:id="rId14"/>
    <p:sldId id="263" r:id="rId15"/>
    <p:sldId id="264" r:id="rId16"/>
    <p:sldId id="265" r:id="rId17"/>
    <p:sldId id="266" r:id="rId18"/>
    <p:sldId id="267" r:id="rId19"/>
    <p:sldId id="268" r:id="rId20"/>
    <p:sldId id="26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2EAF2"/>
    <a:srgbClr val="BCD9F8"/>
    <a:srgbClr val="BDC4F7"/>
    <a:srgbClr val="C5C2F2"/>
    <a:srgbClr val="0BA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69" d="100"/>
          <a:sy n="69" d="100"/>
        </p:scale>
        <p:origin x="762"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7/14/2026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7/14/2026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Arpitajha-art/FITNESS-CHAMPIO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0E285D-B65D-4540-9A86-7F9DB0B707B7}"/>
              </a:ext>
            </a:extLst>
          </p:cNvPr>
          <p:cNvSpPr>
            <a:spLocks noGrp="1"/>
          </p:cNvSpPr>
          <p:nvPr>
            <p:ph type="title"/>
          </p:nvPr>
        </p:nvSpPr>
        <p:spPr>
          <a:xfrm>
            <a:off x="913775" y="304800"/>
            <a:ext cx="10364452" cy="4516581"/>
          </a:xfrm>
        </p:spPr>
        <p:txBody>
          <a:bodyPr>
            <a:normAutofit/>
          </a:bodyPr>
          <a:lstStyle/>
          <a:p>
            <a:pPr algn="r"/>
            <a:r>
              <a:rPr lang="en-IN" sz="2000" dirty="0"/>
              <a:t> Fitness Champion: </a:t>
            </a:r>
            <a:br>
              <a:rPr lang="en-IN" sz="2000" dirty="0"/>
            </a:br>
            <a:r>
              <a:rPr lang="en-IN" sz="2000" cap="none" dirty="0"/>
              <a:t>An Ai Powered Fitness And Wellness Coaching Agent</a:t>
            </a:r>
            <a:br>
              <a:rPr lang="en-IN" sz="2000" cap="none" dirty="0"/>
            </a:br>
            <a:br>
              <a:rPr lang="en-IN" sz="2000" cap="none" dirty="0"/>
            </a:br>
            <a:br>
              <a:rPr lang="en-IN" sz="2000" cap="none" dirty="0"/>
            </a:br>
            <a:br>
              <a:rPr lang="en-IN" sz="2000" cap="none" dirty="0"/>
            </a:br>
            <a:br>
              <a:rPr lang="en-IN" sz="2000" cap="none" dirty="0"/>
            </a:br>
            <a:r>
              <a:rPr lang="en-IN" sz="2000" cap="none" dirty="0"/>
              <a:t> </a:t>
            </a:r>
            <a:br>
              <a:rPr lang="en-IN" sz="2000" cap="none" dirty="0"/>
            </a:br>
            <a:br>
              <a:rPr lang="en-IN" sz="2000" cap="none" dirty="0"/>
            </a:br>
            <a:br>
              <a:rPr lang="en-IN" sz="2000" dirty="0"/>
            </a:br>
            <a:br>
              <a:rPr lang="en-IN" sz="2000" dirty="0"/>
            </a:br>
            <a:br>
              <a:rPr lang="en-IN" sz="2000" dirty="0"/>
            </a:br>
            <a:br>
              <a:rPr lang="en-IN" sz="2000" dirty="0"/>
            </a:br>
            <a:br>
              <a:rPr lang="en-IN" sz="2000" dirty="0"/>
            </a:br>
            <a:br>
              <a:rPr lang="en-IN" sz="2000" dirty="0"/>
            </a:br>
            <a:br>
              <a:rPr lang="en-IN" sz="2000" dirty="0"/>
            </a:br>
            <a:r>
              <a:rPr lang="en-IN" sz="2000" dirty="0"/>
              <a:t>      </a:t>
            </a:r>
          </a:p>
        </p:txBody>
      </p:sp>
      <p:sp>
        <p:nvSpPr>
          <p:cNvPr id="5" name="Text Placeholder 4">
            <a:extLst>
              <a:ext uri="{FF2B5EF4-FFF2-40B4-BE49-F238E27FC236}">
                <a16:creationId xmlns:a16="http://schemas.microsoft.com/office/drawing/2014/main" id="{1282264E-3D35-494D-BD94-6E56DB350C94}"/>
              </a:ext>
            </a:extLst>
          </p:cNvPr>
          <p:cNvSpPr>
            <a:spLocks noGrp="1"/>
          </p:cNvSpPr>
          <p:nvPr>
            <p:ph type="body" sz="half" idx="2"/>
          </p:nvPr>
        </p:nvSpPr>
        <p:spPr>
          <a:xfrm>
            <a:off x="913775" y="2729345"/>
            <a:ext cx="10364452" cy="3073634"/>
          </a:xfrm>
        </p:spPr>
        <p:txBody>
          <a:bodyPr/>
          <a:lstStyle/>
          <a:p>
            <a:endParaRPr lang="en-IN" dirty="0"/>
          </a:p>
        </p:txBody>
      </p:sp>
      <p:sp>
        <p:nvSpPr>
          <p:cNvPr id="6" name="Scroll: Horizontal 5">
            <a:extLst>
              <a:ext uri="{FF2B5EF4-FFF2-40B4-BE49-F238E27FC236}">
                <a16:creationId xmlns:a16="http://schemas.microsoft.com/office/drawing/2014/main" id="{83AFE46E-634D-4106-B9B8-3FA429193409}"/>
              </a:ext>
            </a:extLst>
          </p:cNvPr>
          <p:cNvSpPr/>
          <p:nvPr/>
        </p:nvSpPr>
        <p:spPr>
          <a:xfrm>
            <a:off x="4474391" y="1055021"/>
            <a:ext cx="7010400" cy="1856509"/>
          </a:xfrm>
          <a:prstGeom prst="horizontalScroll">
            <a:avLst/>
          </a:prstGeom>
          <a:solidFill>
            <a:srgbClr val="C2E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200" dirty="0">
              <a:solidFill>
                <a:schemeClr val="tx1"/>
              </a:solidFill>
            </a:endParaRPr>
          </a:p>
          <a:p>
            <a:pPr algn="ctr"/>
            <a:endParaRPr lang="en-IN" sz="3200" dirty="0">
              <a:solidFill>
                <a:schemeClr val="tx1"/>
              </a:solidFill>
            </a:endParaRPr>
          </a:p>
          <a:p>
            <a:pPr algn="ctr"/>
            <a:r>
              <a:rPr lang="en-IN" sz="3200" dirty="0">
                <a:solidFill>
                  <a:schemeClr val="tx1"/>
                </a:solidFill>
              </a:rPr>
              <a:t>IBM UNIVERSITY ENGAGEMENT </a:t>
            </a:r>
            <a:br>
              <a:rPr lang="en-IN" sz="3200" dirty="0">
                <a:solidFill>
                  <a:schemeClr val="tx1"/>
                </a:solidFill>
              </a:rPr>
            </a:br>
            <a:r>
              <a:rPr lang="en-IN" sz="3200" dirty="0">
                <a:solidFill>
                  <a:schemeClr val="tx1"/>
                </a:solidFill>
              </a:rPr>
              <a:t>PROJECT SUBMISSION</a:t>
            </a:r>
            <a:br>
              <a:rPr lang="en-IN" sz="3200" dirty="0">
                <a:solidFill>
                  <a:schemeClr val="tx1"/>
                </a:solidFill>
              </a:rPr>
            </a:br>
            <a:br>
              <a:rPr lang="en-IN" sz="3200" dirty="0">
                <a:solidFill>
                  <a:schemeClr val="tx1"/>
                </a:solidFill>
              </a:rPr>
            </a:br>
            <a:endParaRPr lang="en-IN" sz="3200" dirty="0">
              <a:solidFill>
                <a:schemeClr val="tx1"/>
              </a:solidFill>
            </a:endParaRPr>
          </a:p>
        </p:txBody>
      </p:sp>
      <p:sp>
        <p:nvSpPr>
          <p:cNvPr id="9" name="Rectangle: Single Corner Rounded 8">
            <a:extLst>
              <a:ext uri="{FF2B5EF4-FFF2-40B4-BE49-F238E27FC236}">
                <a16:creationId xmlns:a16="http://schemas.microsoft.com/office/drawing/2014/main" id="{86897FB1-24B1-4E38-81AC-3B7E2D9617EF}"/>
              </a:ext>
            </a:extLst>
          </p:cNvPr>
          <p:cNvSpPr/>
          <p:nvPr/>
        </p:nvSpPr>
        <p:spPr>
          <a:xfrm>
            <a:off x="6706225" y="2819400"/>
            <a:ext cx="4572000" cy="1219200"/>
          </a:xfrm>
          <a:prstGeom prst="round1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Built Using IBM </a:t>
            </a:r>
            <a:r>
              <a:rPr lang="en-IN" dirty="0" err="1"/>
              <a:t>Watsonx</a:t>
            </a:r>
            <a:r>
              <a:rPr lang="en-IN" dirty="0"/>
              <a:t> Orchestrate And Granite-class Foundation Models</a:t>
            </a:r>
          </a:p>
        </p:txBody>
      </p:sp>
    </p:spTree>
    <p:extLst>
      <p:ext uri="{BB962C8B-B14F-4D97-AF65-F5344CB8AC3E}">
        <p14:creationId xmlns:p14="http://schemas.microsoft.com/office/powerpoint/2010/main" val="2368399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D5333-71CA-4E39-B3CA-BAF8D1633A04}"/>
              </a:ext>
            </a:extLst>
          </p:cNvPr>
          <p:cNvSpPr>
            <a:spLocks noGrp="1"/>
          </p:cNvSpPr>
          <p:nvPr>
            <p:ph type="ctrTitle"/>
          </p:nvPr>
        </p:nvSpPr>
        <p:spPr>
          <a:xfrm>
            <a:off x="1751012" y="1300786"/>
            <a:ext cx="8689976" cy="1012924"/>
          </a:xfrm>
        </p:spPr>
        <p:txBody>
          <a:bodyPr>
            <a:normAutofit fontScale="90000"/>
          </a:bodyPr>
          <a:lstStyle/>
          <a:p>
            <a:pPr algn="l"/>
            <a:r>
              <a:rPr lang="en-IN" sz="3200" dirty="0">
                <a:solidFill>
                  <a:schemeClr val="bg2">
                    <a:lumMod val="75000"/>
                  </a:schemeClr>
                </a:solidFill>
              </a:rPr>
              <a:t>Domain of project</a:t>
            </a:r>
            <a:br>
              <a:rPr lang="en-IN" dirty="0"/>
            </a:br>
            <a:r>
              <a:rPr lang="en-IN" dirty="0"/>
              <a:t>  </a:t>
            </a:r>
            <a:r>
              <a:rPr lang="en-IN" sz="3100" dirty="0"/>
              <a:t>health &amp;fitness </a:t>
            </a:r>
          </a:p>
        </p:txBody>
      </p:sp>
      <p:sp>
        <p:nvSpPr>
          <p:cNvPr id="3" name="Subtitle 2">
            <a:extLst>
              <a:ext uri="{FF2B5EF4-FFF2-40B4-BE49-F238E27FC236}">
                <a16:creationId xmlns:a16="http://schemas.microsoft.com/office/drawing/2014/main" id="{0BBD2257-1E53-4235-8EF6-BA752E3E0AF6}"/>
              </a:ext>
            </a:extLst>
          </p:cNvPr>
          <p:cNvSpPr>
            <a:spLocks noGrp="1"/>
          </p:cNvSpPr>
          <p:nvPr>
            <p:ph type="subTitle" idx="1"/>
          </p:nvPr>
        </p:nvSpPr>
        <p:spPr>
          <a:xfrm>
            <a:off x="1751012" y="2840182"/>
            <a:ext cx="8689976" cy="2417617"/>
          </a:xfrm>
        </p:spPr>
        <p:txBody>
          <a:bodyPr>
            <a:normAutofit/>
          </a:bodyPr>
          <a:lstStyle/>
          <a:p>
            <a:pPr algn="l"/>
            <a:r>
              <a:rPr lang="en-IN" dirty="0">
                <a:solidFill>
                  <a:schemeClr val="bg2">
                    <a:lumMod val="75000"/>
                  </a:schemeClr>
                </a:solidFill>
              </a:rPr>
              <a:t>Project title</a:t>
            </a:r>
          </a:p>
          <a:p>
            <a:r>
              <a:rPr lang="en-IN" dirty="0">
                <a:solidFill>
                  <a:schemeClr val="tx1"/>
                </a:solidFill>
              </a:rPr>
              <a:t>Fitness champion- </a:t>
            </a:r>
            <a:r>
              <a:rPr lang="en-IN" cap="none" dirty="0">
                <a:solidFill>
                  <a:schemeClr val="tx1"/>
                </a:solidFill>
              </a:rPr>
              <a:t>Intelligence AI Agent For Personalize Health And Fitness</a:t>
            </a:r>
            <a:endParaRPr lang="en-IN" dirty="0">
              <a:solidFill>
                <a:schemeClr val="tx1"/>
              </a:solidFill>
            </a:endParaRPr>
          </a:p>
        </p:txBody>
      </p:sp>
    </p:spTree>
    <p:extLst>
      <p:ext uri="{BB962C8B-B14F-4D97-AF65-F5344CB8AC3E}">
        <p14:creationId xmlns:p14="http://schemas.microsoft.com/office/powerpoint/2010/main" val="85560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2230-E085-47B4-8F24-B37E0B0EDF1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985221D-AC9B-4E20-8824-A332338FD59B}"/>
              </a:ext>
            </a:extLst>
          </p:cNvPr>
          <p:cNvSpPr>
            <a:spLocks noGrp="1"/>
          </p:cNvSpPr>
          <p:nvPr>
            <p:ph sz="quarter" idx="13"/>
          </p:nvPr>
        </p:nvSpPr>
        <p:spPr>
          <a:xfrm>
            <a:off x="318655" y="2105892"/>
            <a:ext cx="11402290" cy="3685307"/>
          </a:xfrm>
        </p:spPr>
        <p:txBody>
          <a:bodyPr/>
          <a:lstStyle/>
          <a:p>
            <a:endParaRPr lang="en-IN" dirty="0"/>
          </a:p>
        </p:txBody>
      </p:sp>
      <p:sp>
        <p:nvSpPr>
          <p:cNvPr id="4" name="Flowchart: Process 3">
            <a:extLst>
              <a:ext uri="{FF2B5EF4-FFF2-40B4-BE49-F238E27FC236}">
                <a16:creationId xmlns:a16="http://schemas.microsoft.com/office/drawing/2014/main" id="{4B19CBDE-B7B2-4B81-931F-B551D11D44D5}"/>
              </a:ext>
            </a:extLst>
          </p:cNvPr>
          <p:cNvSpPr/>
          <p:nvPr/>
        </p:nvSpPr>
        <p:spPr>
          <a:xfrm>
            <a:off x="581891" y="1990016"/>
            <a:ext cx="10751752" cy="3424106"/>
          </a:xfrm>
          <a:prstGeom prst="flowChartProcess">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BE3AAB0-E454-4048-9963-2AB91380BD64}"/>
              </a:ext>
            </a:extLst>
          </p:cNvPr>
          <p:cNvSpPr/>
          <p:nvPr/>
        </p:nvSpPr>
        <p:spPr>
          <a:xfrm>
            <a:off x="733979" y="1988128"/>
            <a:ext cx="1981200" cy="144087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a:t>
            </a:r>
          </a:p>
        </p:txBody>
      </p:sp>
      <p:sp>
        <p:nvSpPr>
          <p:cNvPr id="11" name="Rectangle 10">
            <a:extLst>
              <a:ext uri="{FF2B5EF4-FFF2-40B4-BE49-F238E27FC236}">
                <a16:creationId xmlns:a16="http://schemas.microsoft.com/office/drawing/2014/main" id="{111E1729-CA28-4C9F-B837-A0EE888C44C7}"/>
              </a:ext>
            </a:extLst>
          </p:cNvPr>
          <p:cNvSpPr/>
          <p:nvPr/>
        </p:nvSpPr>
        <p:spPr>
          <a:xfrm>
            <a:off x="2832004" y="1988128"/>
            <a:ext cx="1981200" cy="144087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PASSPORT SIZE PHOTO</a:t>
            </a:r>
          </a:p>
        </p:txBody>
      </p:sp>
      <p:sp>
        <p:nvSpPr>
          <p:cNvPr id="12" name="Rectangle 11">
            <a:extLst>
              <a:ext uri="{FF2B5EF4-FFF2-40B4-BE49-F238E27FC236}">
                <a16:creationId xmlns:a16="http://schemas.microsoft.com/office/drawing/2014/main" id="{7F40AC1A-8EC9-41DF-B236-ACF2886EB2BB}"/>
              </a:ext>
            </a:extLst>
          </p:cNvPr>
          <p:cNvSpPr/>
          <p:nvPr/>
        </p:nvSpPr>
        <p:spPr>
          <a:xfrm>
            <a:off x="4947192" y="1988128"/>
            <a:ext cx="1981200" cy="144087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EMAIL ID</a:t>
            </a:r>
          </a:p>
        </p:txBody>
      </p:sp>
      <p:sp>
        <p:nvSpPr>
          <p:cNvPr id="13" name="Rectangle 12">
            <a:extLst>
              <a:ext uri="{FF2B5EF4-FFF2-40B4-BE49-F238E27FC236}">
                <a16:creationId xmlns:a16="http://schemas.microsoft.com/office/drawing/2014/main" id="{62B278F0-820F-4EF4-8A7C-3371329623E9}"/>
              </a:ext>
            </a:extLst>
          </p:cNvPr>
          <p:cNvSpPr/>
          <p:nvPr/>
        </p:nvSpPr>
        <p:spPr>
          <a:xfrm>
            <a:off x="7062380" y="1988128"/>
            <a:ext cx="1981200" cy="144087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MOBILE NUMBER</a:t>
            </a:r>
          </a:p>
        </p:txBody>
      </p:sp>
      <p:sp>
        <p:nvSpPr>
          <p:cNvPr id="14" name="Rectangle 13">
            <a:extLst>
              <a:ext uri="{FF2B5EF4-FFF2-40B4-BE49-F238E27FC236}">
                <a16:creationId xmlns:a16="http://schemas.microsoft.com/office/drawing/2014/main" id="{EAB92ED3-FADE-4488-B08B-90C21653DB76}"/>
              </a:ext>
            </a:extLst>
          </p:cNvPr>
          <p:cNvSpPr/>
          <p:nvPr/>
        </p:nvSpPr>
        <p:spPr>
          <a:xfrm>
            <a:off x="9223376" y="1988128"/>
            <a:ext cx="1981200" cy="144087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STUDENT ID</a:t>
            </a:r>
          </a:p>
        </p:txBody>
      </p:sp>
      <p:sp>
        <p:nvSpPr>
          <p:cNvPr id="15" name="Rectangle 14">
            <a:extLst>
              <a:ext uri="{FF2B5EF4-FFF2-40B4-BE49-F238E27FC236}">
                <a16:creationId xmlns:a16="http://schemas.microsoft.com/office/drawing/2014/main" id="{7B6B2E9A-82DE-4107-B320-D2441DF6A788}"/>
              </a:ext>
            </a:extLst>
          </p:cNvPr>
          <p:cNvSpPr/>
          <p:nvPr/>
        </p:nvSpPr>
        <p:spPr>
          <a:xfrm>
            <a:off x="733979" y="3817945"/>
            <a:ext cx="1981200" cy="1440872"/>
          </a:xfrm>
          <a:prstGeom prst="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rPr>
              <a:t>ARPITA</a:t>
            </a:r>
          </a:p>
          <a:p>
            <a:pPr algn="ctr"/>
            <a:r>
              <a:rPr lang="en-IN" sz="2800" dirty="0">
                <a:solidFill>
                  <a:schemeClr val="tx1"/>
                </a:solidFill>
              </a:rPr>
              <a:t>JHA</a:t>
            </a:r>
          </a:p>
        </p:txBody>
      </p:sp>
      <p:sp>
        <p:nvSpPr>
          <p:cNvPr id="16" name="Rectangle 15">
            <a:extLst>
              <a:ext uri="{FF2B5EF4-FFF2-40B4-BE49-F238E27FC236}">
                <a16:creationId xmlns:a16="http://schemas.microsoft.com/office/drawing/2014/main" id="{15A26B44-3461-40B6-8D67-B7FED50ECD9A}"/>
              </a:ext>
            </a:extLst>
          </p:cNvPr>
          <p:cNvSpPr/>
          <p:nvPr/>
        </p:nvSpPr>
        <p:spPr>
          <a:xfrm>
            <a:off x="2867267" y="3817945"/>
            <a:ext cx="1981200" cy="1440872"/>
          </a:xfrm>
          <a:prstGeom prst="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DDC6FB3-A613-450D-9809-B7FEE574976A}"/>
              </a:ext>
            </a:extLst>
          </p:cNvPr>
          <p:cNvSpPr/>
          <p:nvPr/>
        </p:nvSpPr>
        <p:spPr>
          <a:xfrm>
            <a:off x="5029200" y="3817945"/>
            <a:ext cx="1981200" cy="1440872"/>
          </a:xfrm>
          <a:prstGeom prst="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Arpitajha408gmail.com</a:t>
            </a:r>
          </a:p>
        </p:txBody>
      </p:sp>
      <p:sp>
        <p:nvSpPr>
          <p:cNvPr id="18" name="Rectangle 17">
            <a:extLst>
              <a:ext uri="{FF2B5EF4-FFF2-40B4-BE49-F238E27FC236}">
                <a16:creationId xmlns:a16="http://schemas.microsoft.com/office/drawing/2014/main" id="{C0C35409-FA6D-4437-84C0-4A93E70204AF}"/>
              </a:ext>
            </a:extLst>
          </p:cNvPr>
          <p:cNvSpPr/>
          <p:nvPr/>
        </p:nvSpPr>
        <p:spPr>
          <a:xfrm>
            <a:off x="7162800" y="3817945"/>
            <a:ext cx="1981200" cy="1440872"/>
          </a:xfrm>
          <a:prstGeom prst="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9575504460</a:t>
            </a:r>
          </a:p>
        </p:txBody>
      </p:sp>
      <p:sp>
        <p:nvSpPr>
          <p:cNvPr id="19" name="Rectangle 18">
            <a:extLst>
              <a:ext uri="{FF2B5EF4-FFF2-40B4-BE49-F238E27FC236}">
                <a16:creationId xmlns:a16="http://schemas.microsoft.com/office/drawing/2014/main" id="{259A0363-1510-4765-86E8-53953FC14454}"/>
              </a:ext>
            </a:extLst>
          </p:cNvPr>
          <p:cNvSpPr/>
          <p:nvPr/>
        </p:nvSpPr>
        <p:spPr>
          <a:xfrm>
            <a:off x="9324733" y="3817945"/>
            <a:ext cx="1981200" cy="1440872"/>
          </a:xfrm>
          <a:prstGeom prst="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STU69e8733c8ca881776841532</a:t>
            </a:r>
          </a:p>
        </p:txBody>
      </p:sp>
      <p:pic>
        <p:nvPicPr>
          <p:cNvPr id="20" name="Picture 19">
            <a:extLst>
              <a:ext uri="{FF2B5EF4-FFF2-40B4-BE49-F238E27FC236}">
                <a16:creationId xmlns:a16="http://schemas.microsoft.com/office/drawing/2014/main" id="{14E3FE3C-85B6-4483-9ACD-252DDC6ACE82}"/>
              </a:ext>
            </a:extLst>
          </p:cNvPr>
          <p:cNvPicPr>
            <a:picLocks noChangeAspect="1"/>
          </p:cNvPicPr>
          <p:nvPr/>
        </p:nvPicPr>
        <p:blipFill rotWithShape="1">
          <a:blip r:embed="rId2"/>
          <a:srcRect l="45971" t="21054" r="24939" b="9019"/>
          <a:stretch/>
        </p:blipFill>
        <p:spPr>
          <a:xfrm>
            <a:off x="2978415" y="3817945"/>
            <a:ext cx="1816377" cy="1596177"/>
          </a:xfrm>
          <a:prstGeom prst="rect">
            <a:avLst/>
          </a:prstGeom>
        </p:spPr>
      </p:pic>
    </p:spTree>
    <p:extLst>
      <p:ext uri="{BB962C8B-B14F-4D97-AF65-F5344CB8AC3E}">
        <p14:creationId xmlns:p14="http://schemas.microsoft.com/office/powerpoint/2010/main" val="1437774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70B6A-7865-45EF-8008-A2B895862C54}"/>
              </a:ext>
            </a:extLst>
          </p:cNvPr>
          <p:cNvSpPr>
            <a:spLocks noGrp="1"/>
          </p:cNvSpPr>
          <p:nvPr>
            <p:ph type="title"/>
          </p:nvPr>
        </p:nvSpPr>
        <p:spPr>
          <a:xfrm>
            <a:off x="913775" y="1672245"/>
            <a:ext cx="10364451" cy="45719"/>
          </a:xfrm>
        </p:spPr>
        <p:txBody>
          <a:bodyPr>
            <a:normAutofit fontScale="90000"/>
          </a:bodyPr>
          <a:lstStyle/>
          <a:p>
            <a:r>
              <a:rPr lang="en-US" sz="4400" cap="none" dirty="0">
                <a:solidFill>
                  <a:schemeClr val="bg2">
                    <a:lumMod val="50000"/>
                  </a:schemeClr>
                </a:solidFill>
              </a:rPr>
              <a:t>Current challenge</a:t>
            </a:r>
            <a:br>
              <a:rPr lang="en-US" cap="none" dirty="0"/>
            </a:br>
            <a:endParaRPr lang="en-IN" dirty="0">
              <a:solidFill>
                <a:schemeClr val="accent2">
                  <a:lumMod val="75000"/>
                </a:schemeClr>
              </a:solidFill>
            </a:endParaRPr>
          </a:p>
        </p:txBody>
      </p:sp>
      <p:sp>
        <p:nvSpPr>
          <p:cNvPr id="3" name="Content Placeholder 2">
            <a:extLst>
              <a:ext uri="{FF2B5EF4-FFF2-40B4-BE49-F238E27FC236}">
                <a16:creationId xmlns:a16="http://schemas.microsoft.com/office/drawing/2014/main" id="{6DD982BA-2C7D-4EB1-BAD6-82F921922557}"/>
              </a:ext>
            </a:extLst>
          </p:cNvPr>
          <p:cNvSpPr>
            <a:spLocks noGrp="1"/>
          </p:cNvSpPr>
          <p:nvPr>
            <p:ph sz="quarter" idx="13"/>
          </p:nvPr>
        </p:nvSpPr>
        <p:spPr>
          <a:xfrm>
            <a:off x="913774" y="1717964"/>
            <a:ext cx="10363826" cy="5029200"/>
          </a:xfrm>
        </p:spPr>
        <p:txBody>
          <a:bodyPr>
            <a:noAutofit/>
          </a:bodyPr>
          <a:lstStyle/>
          <a:p>
            <a:pPr marL="0" indent="0">
              <a:buNone/>
            </a:pPr>
            <a:endParaRPr lang="en-US" dirty="0"/>
          </a:p>
        </p:txBody>
      </p:sp>
      <p:sp>
        <p:nvSpPr>
          <p:cNvPr id="4" name="Rectangle: Rounded Corners 3">
            <a:extLst>
              <a:ext uri="{FF2B5EF4-FFF2-40B4-BE49-F238E27FC236}">
                <a16:creationId xmlns:a16="http://schemas.microsoft.com/office/drawing/2014/main" id="{97055D0A-74B2-4329-B5BF-D6177D31C404}"/>
              </a:ext>
            </a:extLst>
          </p:cNvPr>
          <p:cNvSpPr/>
          <p:nvPr/>
        </p:nvSpPr>
        <p:spPr>
          <a:xfrm>
            <a:off x="1417982" y="2451652"/>
            <a:ext cx="3829878" cy="3418880"/>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Many people want to stay healthy, but busy schedules and a lack of proper fitness guidance make it difficult. Most fitness apps or trainers are expensive, follow fixed plans, or do not match each person's lifestyle and goals.</a:t>
            </a:r>
            <a:endParaRPr lang="en-IN" dirty="0">
              <a:solidFill>
                <a:schemeClr val="tx1"/>
              </a:solidFill>
            </a:endParaRPr>
          </a:p>
        </p:txBody>
      </p:sp>
      <p:sp>
        <p:nvSpPr>
          <p:cNvPr id="6" name="Rectangle: Rounded Corners 5">
            <a:extLst>
              <a:ext uri="{FF2B5EF4-FFF2-40B4-BE49-F238E27FC236}">
                <a16:creationId xmlns:a16="http://schemas.microsoft.com/office/drawing/2014/main" id="{C6C57DBC-E854-4A11-AA8A-BFB7475B67CD}"/>
              </a:ext>
            </a:extLst>
          </p:cNvPr>
          <p:cNvSpPr/>
          <p:nvPr/>
        </p:nvSpPr>
        <p:spPr>
          <a:xfrm>
            <a:off x="6288157" y="2470206"/>
            <a:ext cx="3829878" cy="3418880"/>
          </a:xfrm>
          <a:prstGeom prst="round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People need an easy-to-use fitness assistant that can provide personalized workout suggestions, simple diet tips, and daily motivation anytime, helping them build healthy habits and stay consistent.</a:t>
            </a:r>
            <a:endParaRPr lang="en-IN" dirty="0">
              <a:solidFill>
                <a:schemeClr val="tx1"/>
              </a:solidFill>
            </a:endParaRPr>
          </a:p>
        </p:txBody>
      </p:sp>
    </p:spTree>
    <p:extLst>
      <p:ext uri="{BB962C8B-B14F-4D97-AF65-F5344CB8AC3E}">
        <p14:creationId xmlns:p14="http://schemas.microsoft.com/office/powerpoint/2010/main" val="3093681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CDA53-16CC-4F70-AC96-E4C492697D50}"/>
              </a:ext>
            </a:extLst>
          </p:cNvPr>
          <p:cNvSpPr>
            <a:spLocks noGrp="1"/>
          </p:cNvSpPr>
          <p:nvPr>
            <p:ph type="title"/>
          </p:nvPr>
        </p:nvSpPr>
        <p:spPr>
          <a:xfrm>
            <a:off x="913775" y="618518"/>
            <a:ext cx="10364451" cy="1279556"/>
          </a:xfrm>
        </p:spPr>
        <p:txBody>
          <a:bodyPr>
            <a:normAutofit/>
          </a:bodyPr>
          <a:lstStyle/>
          <a:p>
            <a:r>
              <a:rPr lang="en-US" dirty="0">
                <a:solidFill>
                  <a:schemeClr val="bg2">
                    <a:lumMod val="50000"/>
                  </a:schemeClr>
                </a:solidFill>
              </a:rPr>
              <a:t>Project Goals</a:t>
            </a:r>
            <a:endParaRPr lang="en-IN" dirty="0">
              <a:solidFill>
                <a:schemeClr val="bg2">
                  <a:lumMod val="50000"/>
                </a:schemeClr>
              </a:solidFill>
            </a:endParaRPr>
          </a:p>
        </p:txBody>
      </p:sp>
      <p:sp>
        <p:nvSpPr>
          <p:cNvPr id="3" name="Content Placeholder 2">
            <a:extLst>
              <a:ext uri="{FF2B5EF4-FFF2-40B4-BE49-F238E27FC236}">
                <a16:creationId xmlns:a16="http://schemas.microsoft.com/office/drawing/2014/main" id="{26BFC697-A01E-4F7C-A27E-2F29A8473B23}"/>
              </a:ext>
            </a:extLst>
          </p:cNvPr>
          <p:cNvSpPr>
            <a:spLocks noGrp="1"/>
          </p:cNvSpPr>
          <p:nvPr>
            <p:ph sz="quarter" idx="13"/>
          </p:nvPr>
        </p:nvSpPr>
        <p:spPr>
          <a:xfrm>
            <a:off x="913774" y="1787236"/>
            <a:ext cx="10363826" cy="4003963"/>
          </a:xfrm>
        </p:spPr>
        <p:txBody>
          <a:bodyPr>
            <a:normAutofit/>
          </a:bodyPr>
          <a:lstStyle/>
          <a:p>
            <a:pPr marL="0" indent="0">
              <a:buNone/>
            </a:pPr>
            <a:endParaRPr lang="en-US" dirty="0"/>
          </a:p>
          <a:p>
            <a:pPr marL="0" indent="0">
              <a:buNone/>
            </a:pPr>
            <a:endParaRPr lang="en-IN" dirty="0"/>
          </a:p>
        </p:txBody>
      </p:sp>
      <p:sp>
        <p:nvSpPr>
          <p:cNvPr id="4" name="Speech Bubble: Rectangle with Corners Rounded 3">
            <a:extLst>
              <a:ext uri="{FF2B5EF4-FFF2-40B4-BE49-F238E27FC236}">
                <a16:creationId xmlns:a16="http://schemas.microsoft.com/office/drawing/2014/main" id="{A09F2486-C1B7-4B49-B13A-AE93F61CEC5E}"/>
              </a:ext>
            </a:extLst>
          </p:cNvPr>
          <p:cNvSpPr/>
          <p:nvPr/>
        </p:nvSpPr>
        <p:spPr>
          <a:xfrm>
            <a:off x="1364974" y="1898074"/>
            <a:ext cx="3352800" cy="1530926"/>
          </a:xfrm>
          <a:prstGeom prst="wedgeRoundRectCallou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Create workout plans based on the user's fitness level and goals</a:t>
            </a:r>
            <a:r>
              <a:rPr lang="en-US" dirty="0">
                <a:solidFill>
                  <a:schemeClr val="bg1"/>
                </a:solidFill>
              </a:rPr>
              <a:t>.</a:t>
            </a:r>
            <a:endParaRPr lang="en-IN" dirty="0">
              <a:solidFill>
                <a:schemeClr val="bg1"/>
              </a:solidFill>
            </a:endParaRPr>
          </a:p>
        </p:txBody>
      </p:sp>
      <p:sp>
        <p:nvSpPr>
          <p:cNvPr id="5" name="Speech Bubble: Rectangle with Corners Rounded 4">
            <a:extLst>
              <a:ext uri="{FF2B5EF4-FFF2-40B4-BE49-F238E27FC236}">
                <a16:creationId xmlns:a16="http://schemas.microsoft.com/office/drawing/2014/main" id="{CDCE5C97-CC21-4B4B-9DB1-CD40A7EB3E45}"/>
              </a:ext>
            </a:extLst>
          </p:cNvPr>
          <p:cNvSpPr/>
          <p:nvPr/>
        </p:nvSpPr>
        <p:spPr>
          <a:xfrm>
            <a:off x="6433931" y="1898074"/>
            <a:ext cx="3352800" cy="1530926"/>
          </a:xfrm>
          <a:prstGeom prst="wedgeRoundRectCallou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Share simple meal and nutrition suggestions for a healthy lifestyle</a:t>
            </a:r>
            <a:endParaRPr lang="en-IN" dirty="0">
              <a:solidFill>
                <a:schemeClr val="tx1"/>
              </a:solidFill>
            </a:endParaRPr>
          </a:p>
        </p:txBody>
      </p:sp>
      <p:sp>
        <p:nvSpPr>
          <p:cNvPr id="6" name="Speech Bubble: Rectangle with Corners Rounded 5">
            <a:extLst>
              <a:ext uri="{FF2B5EF4-FFF2-40B4-BE49-F238E27FC236}">
                <a16:creationId xmlns:a16="http://schemas.microsoft.com/office/drawing/2014/main" id="{44A943C3-C35F-4205-B651-91DC95C44454}"/>
              </a:ext>
            </a:extLst>
          </p:cNvPr>
          <p:cNvSpPr/>
          <p:nvPr/>
        </p:nvSpPr>
        <p:spPr>
          <a:xfrm>
            <a:off x="1364974" y="3916437"/>
            <a:ext cx="3352800" cy="1530926"/>
          </a:xfrm>
          <a:prstGeom prst="wedgeRoundRectCallou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daily motivation and reminders to keep users active</a:t>
            </a:r>
            <a:endParaRPr lang="en-IN" dirty="0">
              <a:solidFill>
                <a:schemeClr val="tx1"/>
              </a:solidFill>
            </a:endParaRPr>
          </a:p>
        </p:txBody>
      </p:sp>
      <p:sp>
        <p:nvSpPr>
          <p:cNvPr id="7" name="Speech Bubble: Rectangle with Corners Rounded 6">
            <a:extLst>
              <a:ext uri="{FF2B5EF4-FFF2-40B4-BE49-F238E27FC236}">
                <a16:creationId xmlns:a16="http://schemas.microsoft.com/office/drawing/2014/main" id="{9D4A5EF8-357E-4114-A817-4974BA2D34DF}"/>
              </a:ext>
            </a:extLst>
          </p:cNvPr>
          <p:cNvSpPr/>
          <p:nvPr/>
        </p:nvSpPr>
        <p:spPr>
          <a:xfrm>
            <a:off x="6433931" y="3947971"/>
            <a:ext cx="3352800" cy="1530926"/>
          </a:xfrm>
          <a:prstGeom prst="wedgeRoundRectCallou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solidFill>
                  <a:schemeClr val="tx1"/>
                </a:solidFill>
              </a:rPr>
              <a:t>Help users develop regular fitness habits and track their progress.</a:t>
            </a:r>
          </a:p>
          <a:p>
            <a:pPr algn="ctr"/>
            <a:endParaRPr lang="en-US" dirty="0"/>
          </a:p>
        </p:txBody>
      </p:sp>
    </p:spTree>
    <p:extLst>
      <p:ext uri="{BB962C8B-B14F-4D97-AF65-F5344CB8AC3E}">
        <p14:creationId xmlns:p14="http://schemas.microsoft.com/office/powerpoint/2010/main" val="1818336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E79DD-95B7-41E7-BC72-F2AE51036787}"/>
              </a:ext>
            </a:extLst>
          </p:cNvPr>
          <p:cNvSpPr>
            <a:spLocks noGrp="1"/>
          </p:cNvSpPr>
          <p:nvPr>
            <p:ph type="title"/>
          </p:nvPr>
        </p:nvSpPr>
        <p:spPr>
          <a:xfrm>
            <a:off x="913775" y="618517"/>
            <a:ext cx="10364451" cy="794647"/>
          </a:xfrm>
        </p:spPr>
        <p:txBody>
          <a:bodyPr/>
          <a:lstStyle/>
          <a:p>
            <a:r>
              <a:rPr lang="en-IN" dirty="0">
                <a:solidFill>
                  <a:schemeClr val="bg2">
                    <a:lumMod val="50000"/>
                  </a:schemeClr>
                </a:solidFill>
              </a:rPr>
              <a:t>Proposed solution</a:t>
            </a:r>
          </a:p>
        </p:txBody>
      </p:sp>
      <p:sp>
        <p:nvSpPr>
          <p:cNvPr id="3" name="Content Placeholder 2">
            <a:extLst>
              <a:ext uri="{FF2B5EF4-FFF2-40B4-BE49-F238E27FC236}">
                <a16:creationId xmlns:a16="http://schemas.microsoft.com/office/drawing/2014/main" id="{9966EF09-7753-42E9-8059-145F670C1556}"/>
              </a:ext>
            </a:extLst>
          </p:cNvPr>
          <p:cNvSpPr>
            <a:spLocks noGrp="1"/>
          </p:cNvSpPr>
          <p:nvPr>
            <p:ph sz="quarter" idx="13"/>
          </p:nvPr>
        </p:nvSpPr>
        <p:spPr>
          <a:xfrm>
            <a:off x="913774" y="1413164"/>
            <a:ext cx="10363826" cy="4378035"/>
          </a:xfrm>
        </p:spPr>
        <p:txBody>
          <a:bodyPr>
            <a:normAutofit/>
          </a:bodyPr>
          <a:lstStyle/>
          <a:p>
            <a:r>
              <a:rPr lang="en-US" cap="none" dirty="0"/>
              <a:t>The AI agent talks with users and understands their fitness goals. It suggests simple home workouts, healthy meal ideas, and basic nutrition tips based on the user's needs. It also gives daily motivation and reminders to help users stay active and build healthy </a:t>
            </a:r>
            <a:r>
              <a:rPr lang="en-US" cap="none" dirty="0" err="1"/>
              <a:t>habits.Since</a:t>
            </a:r>
            <a:r>
              <a:rPr lang="en-US" cap="none" dirty="0"/>
              <a:t> the assistant is available anytime, users can get fitness guidance without paying for a personal trainer or expensive fitness apps.</a:t>
            </a:r>
          </a:p>
          <a:p>
            <a:pPr marL="0" indent="0">
              <a:buNone/>
            </a:pPr>
            <a:r>
              <a:rPr lang="en-US" sz="2200" cap="none" dirty="0">
                <a:solidFill>
                  <a:schemeClr val="accent6">
                    <a:lumMod val="75000"/>
                  </a:schemeClr>
                </a:solidFill>
              </a:rPr>
              <a:t>Key features</a:t>
            </a:r>
          </a:p>
        </p:txBody>
      </p:sp>
      <p:sp>
        <p:nvSpPr>
          <p:cNvPr id="12" name="Rectangle: Rounded Corners 11">
            <a:extLst>
              <a:ext uri="{FF2B5EF4-FFF2-40B4-BE49-F238E27FC236}">
                <a16:creationId xmlns:a16="http://schemas.microsoft.com/office/drawing/2014/main" id="{DCD34FA6-822E-4FEF-91EA-60C2B2046DA9}"/>
              </a:ext>
            </a:extLst>
          </p:cNvPr>
          <p:cNvSpPr/>
          <p:nvPr/>
        </p:nvSpPr>
        <p:spPr>
          <a:xfrm>
            <a:off x="2292624" y="3858186"/>
            <a:ext cx="2584174" cy="1152939"/>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Provides daily motivation and reminders.</a:t>
            </a:r>
            <a:endParaRPr lang="en-IN">
              <a:solidFill>
                <a:schemeClr val="tx1"/>
              </a:solidFill>
            </a:endParaRPr>
          </a:p>
        </p:txBody>
      </p:sp>
      <p:sp>
        <p:nvSpPr>
          <p:cNvPr id="13" name="Rectangle: Rounded Corners 12">
            <a:extLst>
              <a:ext uri="{FF2B5EF4-FFF2-40B4-BE49-F238E27FC236}">
                <a16:creationId xmlns:a16="http://schemas.microsoft.com/office/drawing/2014/main" id="{E61D2037-3190-4FB0-9E69-C1AE1844BFA3}"/>
              </a:ext>
            </a:extLst>
          </p:cNvPr>
          <p:cNvSpPr/>
          <p:nvPr/>
        </p:nvSpPr>
        <p:spPr>
          <a:xfrm>
            <a:off x="5712309" y="3858185"/>
            <a:ext cx="2584174" cy="1152939"/>
          </a:xfrm>
          <a:prstGeom prst="round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Shares healthy meal and nutrition tips</a:t>
            </a:r>
            <a:endParaRPr lang="en-IN" dirty="0">
              <a:solidFill>
                <a:schemeClr val="tx1"/>
              </a:solidFill>
            </a:endParaRPr>
          </a:p>
        </p:txBody>
      </p:sp>
      <p:sp>
        <p:nvSpPr>
          <p:cNvPr id="14" name="Rectangle: Rounded Corners 13">
            <a:extLst>
              <a:ext uri="{FF2B5EF4-FFF2-40B4-BE49-F238E27FC236}">
                <a16:creationId xmlns:a16="http://schemas.microsoft.com/office/drawing/2014/main" id="{76867ECE-41F2-4275-9861-3DD380C1046F}"/>
              </a:ext>
            </a:extLst>
          </p:cNvPr>
          <p:cNvSpPr/>
          <p:nvPr/>
        </p:nvSpPr>
        <p:spPr>
          <a:xfrm>
            <a:off x="2292624" y="5166055"/>
            <a:ext cx="2584174" cy="1152939"/>
          </a:xfrm>
          <a:prstGeom prst="round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Gives personalized workout suggestions</a:t>
            </a:r>
          </a:p>
        </p:txBody>
      </p:sp>
      <p:sp>
        <p:nvSpPr>
          <p:cNvPr id="15" name="Rectangle: Rounded Corners 14">
            <a:extLst>
              <a:ext uri="{FF2B5EF4-FFF2-40B4-BE49-F238E27FC236}">
                <a16:creationId xmlns:a16="http://schemas.microsoft.com/office/drawing/2014/main" id="{7694748E-FA3D-4998-BD79-1B6D2CF78160}"/>
              </a:ext>
            </a:extLst>
          </p:cNvPr>
          <p:cNvSpPr/>
          <p:nvPr/>
        </p:nvSpPr>
        <p:spPr>
          <a:xfrm>
            <a:off x="5712309" y="5214729"/>
            <a:ext cx="2584174" cy="1152939"/>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Available 24/7 through a simple chat interface.</a:t>
            </a:r>
            <a:endParaRPr lang="en-IN" dirty="0">
              <a:solidFill>
                <a:schemeClr val="tx1"/>
              </a:solidFill>
            </a:endParaRPr>
          </a:p>
        </p:txBody>
      </p:sp>
    </p:spTree>
    <p:extLst>
      <p:ext uri="{BB962C8B-B14F-4D97-AF65-F5344CB8AC3E}">
        <p14:creationId xmlns:p14="http://schemas.microsoft.com/office/powerpoint/2010/main" val="876366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1E4B-8907-48C8-B6BE-FCDAC7971CD0}"/>
              </a:ext>
            </a:extLst>
          </p:cNvPr>
          <p:cNvSpPr>
            <a:spLocks noGrp="1"/>
          </p:cNvSpPr>
          <p:nvPr>
            <p:ph type="title"/>
          </p:nvPr>
        </p:nvSpPr>
        <p:spPr>
          <a:xfrm>
            <a:off x="715617" y="541714"/>
            <a:ext cx="10364451" cy="1002465"/>
          </a:xfrm>
        </p:spPr>
        <p:txBody>
          <a:bodyPr/>
          <a:lstStyle/>
          <a:p>
            <a:r>
              <a:rPr lang="en-IN" dirty="0">
                <a:solidFill>
                  <a:schemeClr val="bg2">
                    <a:lumMod val="50000"/>
                  </a:schemeClr>
                </a:solidFill>
              </a:rPr>
              <a:t>Technology used</a:t>
            </a:r>
          </a:p>
        </p:txBody>
      </p:sp>
      <p:sp>
        <p:nvSpPr>
          <p:cNvPr id="3" name="Content Placeholder 2">
            <a:extLst>
              <a:ext uri="{FF2B5EF4-FFF2-40B4-BE49-F238E27FC236}">
                <a16:creationId xmlns:a16="http://schemas.microsoft.com/office/drawing/2014/main" id="{A803FFDB-4350-4BEB-85B0-9B29FDAE44B8}"/>
              </a:ext>
            </a:extLst>
          </p:cNvPr>
          <p:cNvSpPr>
            <a:spLocks noGrp="1"/>
          </p:cNvSpPr>
          <p:nvPr>
            <p:ph sz="quarter" idx="13"/>
          </p:nvPr>
        </p:nvSpPr>
        <p:spPr>
          <a:xfrm>
            <a:off x="0" y="1482436"/>
            <a:ext cx="11476383" cy="5375564"/>
          </a:xfrm>
        </p:spPr>
        <p:txBody>
          <a:bodyPr>
            <a:normAutofit/>
          </a:bodyPr>
          <a:lstStyle/>
          <a:p>
            <a:endParaRPr lang="en-IN" cap="none" dirty="0"/>
          </a:p>
        </p:txBody>
      </p:sp>
      <p:sp>
        <p:nvSpPr>
          <p:cNvPr id="4" name="Rectangle: Rounded Corners 3">
            <a:extLst>
              <a:ext uri="{FF2B5EF4-FFF2-40B4-BE49-F238E27FC236}">
                <a16:creationId xmlns:a16="http://schemas.microsoft.com/office/drawing/2014/main" id="{84C815E9-D24A-4F08-BB48-46693F746615}"/>
              </a:ext>
            </a:extLst>
          </p:cNvPr>
          <p:cNvSpPr/>
          <p:nvPr/>
        </p:nvSpPr>
        <p:spPr>
          <a:xfrm>
            <a:off x="1033670" y="1814795"/>
            <a:ext cx="3631096" cy="143605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r>
              <a:rPr lang="en-US" sz="1700" dirty="0">
                <a:solidFill>
                  <a:schemeClr val="tx1"/>
                </a:solidFill>
              </a:rPr>
              <a:t>Retrieval-augmented generation (rag)helps the AI answer questions using information from our uploaded fitness documents, making responses more accurate and reliable.</a:t>
            </a:r>
            <a:endParaRPr lang="en-IN" sz="1700" dirty="0">
              <a:solidFill>
                <a:schemeClr val="tx1"/>
              </a:solidFill>
            </a:endParaRPr>
          </a:p>
        </p:txBody>
      </p:sp>
      <p:sp>
        <p:nvSpPr>
          <p:cNvPr id="9" name="Rectangle: Rounded Corners 8">
            <a:extLst>
              <a:ext uri="{FF2B5EF4-FFF2-40B4-BE49-F238E27FC236}">
                <a16:creationId xmlns:a16="http://schemas.microsoft.com/office/drawing/2014/main" id="{B66BC746-21E6-48F9-BDD9-469F51CD3234}"/>
              </a:ext>
            </a:extLst>
          </p:cNvPr>
          <p:cNvSpPr/>
          <p:nvPr/>
        </p:nvSpPr>
        <p:spPr>
          <a:xfrm>
            <a:off x="1033670" y="3521464"/>
            <a:ext cx="3631096" cy="1436053"/>
          </a:xfrm>
          <a:prstGeom prst="round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tx1"/>
                </a:solidFill>
              </a:rPr>
              <a:t>GPT-OSS 120B (foundation model)this is the AI model that understands user questions and gives smart, natural, and personalized answers</a:t>
            </a:r>
            <a:endParaRPr lang="en-IN" dirty="0">
              <a:solidFill>
                <a:schemeClr val="tx1"/>
              </a:solidFill>
            </a:endParaRPr>
          </a:p>
        </p:txBody>
      </p:sp>
      <p:sp>
        <p:nvSpPr>
          <p:cNvPr id="10" name="Rectangle: Rounded Corners 9">
            <a:extLst>
              <a:ext uri="{FF2B5EF4-FFF2-40B4-BE49-F238E27FC236}">
                <a16:creationId xmlns:a16="http://schemas.microsoft.com/office/drawing/2014/main" id="{4BFE002C-065B-4952-9CBC-1E41F20085F0}"/>
              </a:ext>
            </a:extLst>
          </p:cNvPr>
          <p:cNvSpPr/>
          <p:nvPr/>
        </p:nvSpPr>
        <p:spPr>
          <a:xfrm>
            <a:off x="6679096" y="1814794"/>
            <a:ext cx="3631096" cy="1436053"/>
          </a:xfrm>
          <a:prstGeom prst="round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IBM </a:t>
            </a:r>
            <a:r>
              <a:rPr lang="en-US" dirty="0" err="1">
                <a:solidFill>
                  <a:schemeClr val="tx1"/>
                </a:solidFill>
              </a:rPr>
              <a:t>watsonx</a:t>
            </a:r>
            <a:r>
              <a:rPr lang="en-US" dirty="0">
                <a:solidFill>
                  <a:schemeClr val="tx1"/>
                </a:solidFill>
              </a:rPr>
              <a:t> orchestrate</a:t>
            </a:r>
          </a:p>
          <a:p>
            <a:pPr algn="ctr"/>
            <a:r>
              <a:rPr lang="en-US" dirty="0">
                <a:solidFill>
                  <a:schemeClr val="tx1"/>
                </a:solidFill>
              </a:rPr>
              <a:t>used to build and manage the fitness buddy AI agent. It helps create the chatbot, set its behavior, and deploy it without much coding</a:t>
            </a:r>
            <a:r>
              <a:rPr lang="en-US" dirty="0"/>
              <a:t>.</a:t>
            </a:r>
            <a:endParaRPr lang="en-IN" dirty="0"/>
          </a:p>
        </p:txBody>
      </p:sp>
      <p:sp>
        <p:nvSpPr>
          <p:cNvPr id="11" name="Rectangle: Rounded Corners 10">
            <a:extLst>
              <a:ext uri="{FF2B5EF4-FFF2-40B4-BE49-F238E27FC236}">
                <a16:creationId xmlns:a16="http://schemas.microsoft.com/office/drawing/2014/main" id="{AE47ECFE-6103-40EE-ABE9-0636FAD6A3DD}"/>
              </a:ext>
            </a:extLst>
          </p:cNvPr>
          <p:cNvSpPr/>
          <p:nvPr/>
        </p:nvSpPr>
        <p:spPr>
          <a:xfrm>
            <a:off x="1033670" y="5189732"/>
            <a:ext cx="3631096" cy="143605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Behavior &amp; guidelines engine sets rules for the AI so it gives safe, helpful, and appropriate responses during every conversation</a:t>
            </a:r>
            <a:endParaRPr lang="en-IN" dirty="0">
              <a:solidFill>
                <a:schemeClr val="tx1"/>
              </a:solidFill>
            </a:endParaRPr>
          </a:p>
        </p:txBody>
      </p:sp>
      <p:sp>
        <p:nvSpPr>
          <p:cNvPr id="12" name="Rectangle: Rounded Corners 11">
            <a:extLst>
              <a:ext uri="{FF2B5EF4-FFF2-40B4-BE49-F238E27FC236}">
                <a16:creationId xmlns:a16="http://schemas.microsoft.com/office/drawing/2014/main" id="{25D1B485-98C5-4113-8D68-C72CB8836C0D}"/>
              </a:ext>
            </a:extLst>
          </p:cNvPr>
          <p:cNvSpPr/>
          <p:nvPr/>
        </p:nvSpPr>
        <p:spPr>
          <a:xfrm>
            <a:off x="6679096" y="3691180"/>
            <a:ext cx="3631096" cy="1266337"/>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solidFill>
                  <a:schemeClr val="tx1"/>
                </a:solidFill>
              </a:rPr>
              <a:t>Custom knowledge base (PDF)A PDF containing workout plans, nutrition tips, fitness guidance, and safety information that the AI uses to answer users' questions</a:t>
            </a:r>
            <a:endParaRPr lang="en-IN" sz="1700" dirty="0">
              <a:solidFill>
                <a:schemeClr val="tx1"/>
              </a:solidFill>
            </a:endParaRPr>
          </a:p>
        </p:txBody>
      </p:sp>
      <p:sp>
        <p:nvSpPr>
          <p:cNvPr id="13" name="Rectangle: Rounded Corners 12">
            <a:extLst>
              <a:ext uri="{FF2B5EF4-FFF2-40B4-BE49-F238E27FC236}">
                <a16:creationId xmlns:a16="http://schemas.microsoft.com/office/drawing/2014/main" id="{8AA3CAA2-8389-4D3F-B47C-D22AB4C88660}"/>
              </a:ext>
            </a:extLst>
          </p:cNvPr>
          <p:cNvSpPr/>
          <p:nvPr/>
        </p:nvSpPr>
        <p:spPr>
          <a:xfrm>
            <a:off x="6679096" y="5189732"/>
            <a:ext cx="3631096" cy="1436053"/>
          </a:xfrm>
          <a:prstGeom prst="round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IBM cloud (lite plan)provides the cloud platform to host and run the Fitness Champion project online using </a:t>
            </a:r>
            <a:r>
              <a:rPr lang="en-US" dirty="0" err="1">
                <a:solidFill>
                  <a:schemeClr val="tx1"/>
                </a:solidFill>
              </a:rPr>
              <a:t>ibm's</a:t>
            </a:r>
            <a:r>
              <a:rPr lang="en-US" dirty="0">
                <a:solidFill>
                  <a:schemeClr val="tx1"/>
                </a:solidFill>
              </a:rPr>
              <a:t> free services</a:t>
            </a:r>
            <a:r>
              <a:rPr lang="en-US" dirty="0"/>
              <a:t>.</a:t>
            </a:r>
            <a:endParaRPr lang="en-IN" dirty="0"/>
          </a:p>
        </p:txBody>
      </p:sp>
    </p:spTree>
    <p:extLst>
      <p:ext uri="{BB962C8B-B14F-4D97-AF65-F5344CB8AC3E}">
        <p14:creationId xmlns:p14="http://schemas.microsoft.com/office/powerpoint/2010/main" val="86746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F489-69FA-44D2-94DF-5EB1025CA515}"/>
              </a:ext>
            </a:extLst>
          </p:cNvPr>
          <p:cNvSpPr>
            <a:spLocks noGrp="1"/>
          </p:cNvSpPr>
          <p:nvPr>
            <p:ph type="title"/>
          </p:nvPr>
        </p:nvSpPr>
        <p:spPr/>
        <p:txBody>
          <a:bodyPr>
            <a:normAutofit/>
          </a:bodyPr>
          <a:lstStyle/>
          <a:p>
            <a:r>
              <a:rPr lang="en-IN" dirty="0"/>
              <a:t>Orchestrate agent component used</a:t>
            </a:r>
          </a:p>
        </p:txBody>
      </p:sp>
      <p:sp>
        <p:nvSpPr>
          <p:cNvPr id="3" name="Content Placeholder 2">
            <a:extLst>
              <a:ext uri="{FF2B5EF4-FFF2-40B4-BE49-F238E27FC236}">
                <a16:creationId xmlns:a16="http://schemas.microsoft.com/office/drawing/2014/main" id="{D2BB8B62-054E-437E-9689-21096A196021}"/>
              </a:ext>
            </a:extLst>
          </p:cNvPr>
          <p:cNvSpPr>
            <a:spLocks noGrp="1"/>
          </p:cNvSpPr>
          <p:nvPr>
            <p:ph sz="quarter" idx="13"/>
          </p:nvPr>
        </p:nvSpPr>
        <p:spPr>
          <a:xfrm>
            <a:off x="913774" y="1704110"/>
            <a:ext cx="10363826" cy="4087090"/>
          </a:xfrm>
        </p:spPr>
        <p:txBody>
          <a:bodyPr/>
          <a:lstStyle/>
          <a:p>
            <a:pPr marL="0" indent="0">
              <a:buNone/>
            </a:pPr>
            <a:r>
              <a:rPr lang="en-IN" dirty="0"/>
              <a:t>P</a:t>
            </a:r>
          </a:p>
          <a:p>
            <a:pPr marL="0" indent="0">
              <a:buNone/>
            </a:pPr>
            <a:r>
              <a:rPr lang="en-US" dirty="0"/>
              <a:t>.</a:t>
            </a:r>
            <a:endParaRPr lang="en-IN" dirty="0"/>
          </a:p>
        </p:txBody>
      </p:sp>
      <p:sp>
        <p:nvSpPr>
          <p:cNvPr id="4" name="Arrow: Pentagon 3">
            <a:extLst>
              <a:ext uri="{FF2B5EF4-FFF2-40B4-BE49-F238E27FC236}">
                <a16:creationId xmlns:a16="http://schemas.microsoft.com/office/drawing/2014/main" id="{D7948FBC-B6C0-4575-B02C-EF585E4A642E}"/>
              </a:ext>
            </a:extLst>
          </p:cNvPr>
          <p:cNvSpPr/>
          <p:nvPr/>
        </p:nvSpPr>
        <p:spPr>
          <a:xfrm>
            <a:off x="1025235" y="1803952"/>
            <a:ext cx="2507673" cy="457200"/>
          </a:xfrm>
          <a:prstGeom prst="homePlate">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Profile</a:t>
            </a:r>
          </a:p>
        </p:txBody>
      </p:sp>
      <p:sp>
        <p:nvSpPr>
          <p:cNvPr id="5" name="Arrow: Pentagon 4">
            <a:extLst>
              <a:ext uri="{FF2B5EF4-FFF2-40B4-BE49-F238E27FC236}">
                <a16:creationId xmlns:a16="http://schemas.microsoft.com/office/drawing/2014/main" id="{545252EB-419B-4AA6-B691-0A0A403D3494}"/>
              </a:ext>
            </a:extLst>
          </p:cNvPr>
          <p:cNvSpPr/>
          <p:nvPr/>
        </p:nvSpPr>
        <p:spPr>
          <a:xfrm>
            <a:off x="4841850" y="1757494"/>
            <a:ext cx="2507673" cy="457200"/>
          </a:xfrm>
          <a:prstGeom prst="homePlat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Knowledge Base</a:t>
            </a:r>
          </a:p>
        </p:txBody>
      </p:sp>
      <p:sp>
        <p:nvSpPr>
          <p:cNvPr id="6" name="Arrow: Pentagon 5">
            <a:extLst>
              <a:ext uri="{FF2B5EF4-FFF2-40B4-BE49-F238E27FC236}">
                <a16:creationId xmlns:a16="http://schemas.microsoft.com/office/drawing/2014/main" id="{69511B3D-E70A-4E32-AE78-C826B0080233}"/>
              </a:ext>
            </a:extLst>
          </p:cNvPr>
          <p:cNvSpPr/>
          <p:nvPr/>
        </p:nvSpPr>
        <p:spPr>
          <a:xfrm>
            <a:off x="8423561" y="1765439"/>
            <a:ext cx="2507673" cy="457200"/>
          </a:xfrm>
          <a:prstGeom prst="homePlat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Behavior</a:t>
            </a:r>
            <a:endParaRPr lang="en-IN" dirty="0">
              <a:solidFill>
                <a:schemeClr val="tx1"/>
              </a:solidFill>
            </a:endParaRPr>
          </a:p>
        </p:txBody>
      </p:sp>
      <p:sp>
        <p:nvSpPr>
          <p:cNvPr id="7" name="Arrow: Pentagon 6">
            <a:extLst>
              <a:ext uri="{FF2B5EF4-FFF2-40B4-BE49-F238E27FC236}">
                <a16:creationId xmlns:a16="http://schemas.microsoft.com/office/drawing/2014/main" id="{C59856F3-1720-4063-84FD-74A7B2196D32}"/>
              </a:ext>
            </a:extLst>
          </p:cNvPr>
          <p:cNvSpPr/>
          <p:nvPr/>
        </p:nvSpPr>
        <p:spPr>
          <a:xfrm>
            <a:off x="1025236" y="3774347"/>
            <a:ext cx="2507673" cy="457200"/>
          </a:xfrm>
          <a:prstGeom prst="homePlat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Guidelines</a:t>
            </a:r>
          </a:p>
        </p:txBody>
      </p:sp>
      <p:sp>
        <p:nvSpPr>
          <p:cNvPr id="8" name="Arrow: Pentagon 7">
            <a:extLst>
              <a:ext uri="{FF2B5EF4-FFF2-40B4-BE49-F238E27FC236}">
                <a16:creationId xmlns:a16="http://schemas.microsoft.com/office/drawing/2014/main" id="{6E2A2D57-ED72-4B23-9EA2-5869CCAA5200}"/>
              </a:ext>
            </a:extLst>
          </p:cNvPr>
          <p:cNvSpPr/>
          <p:nvPr/>
        </p:nvSpPr>
        <p:spPr>
          <a:xfrm>
            <a:off x="4841849" y="3747655"/>
            <a:ext cx="2507673" cy="457200"/>
          </a:xfrm>
          <a:prstGeom prst="homePlat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Quick start prompt</a:t>
            </a:r>
          </a:p>
        </p:txBody>
      </p:sp>
      <p:sp>
        <p:nvSpPr>
          <p:cNvPr id="9" name="Arrow: Pentagon 8">
            <a:extLst>
              <a:ext uri="{FF2B5EF4-FFF2-40B4-BE49-F238E27FC236}">
                <a16:creationId xmlns:a16="http://schemas.microsoft.com/office/drawing/2014/main" id="{D29D53FB-1DB3-4F52-B9A8-8825B730FEB9}"/>
              </a:ext>
            </a:extLst>
          </p:cNvPr>
          <p:cNvSpPr/>
          <p:nvPr/>
        </p:nvSpPr>
        <p:spPr>
          <a:xfrm>
            <a:off x="8423563" y="3747655"/>
            <a:ext cx="2507673" cy="457200"/>
          </a:xfrm>
          <a:prstGeom prst="homePlat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Talk to Agent</a:t>
            </a:r>
          </a:p>
        </p:txBody>
      </p:sp>
      <p:sp>
        <p:nvSpPr>
          <p:cNvPr id="10" name="Rectangle 9">
            <a:extLst>
              <a:ext uri="{FF2B5EF4-FFF2-40B4-BE49-F238E27FC236}">
                <a16:creationId xmlns:a16="http://schemas.microsoft.com/office/drawing/2014/main" id="{57D958DA-9EBA-4FD3-A190-78E5A3984BF3}"/>
              </a:ext>
            </a:extLst>
          </p:cNvPr>
          <p:cNvSpPr/>
          <p:nvPr/>
        </p:nvSpPr>
        <p:spPr>
          <a:xfrm>
            <a:off x="1025235" y="2382982"/>
            <a:ext cx="2507673" cy="116378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Agent name, description, and welcome message that define what Fitness Buddy does and how it introduces itself to users.</a:t>
            </a:r>
            <a:endParaRPr lang="en-IN" sz="1600" dirty="0"/>
          </a:p>
        </p:txBody>
      </p:sp>
      <p:sp>
        <p:nvSpPr>
          <p:cNvPr id="11" name="Rectangle 10">
            <a:extLst>
              <a:ext uri="{FF2B5EF4-FFF2-40B4-BE49-F238E27FC236}">
                <a16:creationId xmlns:a16="http://schemas.microsoft.com/office/drawing/2014/main" id="{15050B13-80C2-4207-8D29-68D60C060164}"/>
              </a:ext>
            </a:extLst>
          </p:cNvPr>
          <p:cNvSpPr/>
          <p:nvPr/>
        </p:nvSpPr>
        <p:spPr>
          <a:xfrm>
            <a:off x="1025235" y="4571999"/>
            <a:ext cx="2507673" cy="116378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Condition–action rules that ensure safe and responsible </a:t>
            </a:r>
            <a:r>
              <a:rPr lang="en-US" sz="1400" dirty="0" err="1"/>
              <a:t>responses.Includes:No</a:t>
            </a:r>
            <a:r>
              <a:rPr lang="en-US" sz="1400" dirty="0"/>
              <a:t> medical </a:t>
            </a:r>
            <a:r>
              <a:rPr lang="en-US" sz="1400" dirty="0" err="1"/>
              <a:t>diagnosisNon</a:t>
            </a:r>
            <a:r>
              <a:rPr lang="en-US" sz="1400" dirty="0"/>
              <a:t>-judgmental tone</a:t>
            </a:r>
            <a:endParaRPr lang="en-IN" sz="1400" dirty="0"/>
          </a:p>
        </p:txBody>
      </p:sp>
      <p:sp>
        <p:nvSpPr>
          <p:cNvPr id="12" name="Rectangle 11">
            <a:extLst>
              <a:ext uri="{FF2B5EF4-FFF2-40B4-BE49-F238E27FC236}">
                <a16:creationId xmlns:a16="http://schemas.microsoft.com/office/drawing/2014/main" id="{2B0CAECE-16F4-40A5-869C-766D68FA3174}"/>
              </a:ext>
            </a:extLst>
          </p:cNvPr>
          <p:cNvSpPr/>
          <p:nvPr/>
        </p:nvSpPr>
        <p:spPr>
          <a:xfrm>
            <a:off x="4897580" y="2382982"/>
            <a:ext cx="2507673" cy="116378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Serves as the agent's single source of truth for workouts, nutrition, fitness guidance, and safety information.</a:t>
            </a:r>
            <a:endParaRPr lang="en-IN" sz="1600" dirty="0"/>
          </a:p>
        </p:txBody>
      </p:sp>
      <p:sp>
        <p:nvSpPr>
          <p:cNvPr id="13" name="Rectangle 12">
            <a:extLst>
              <a:ext uri="{FF2B5EF4-FFF2-40B4-BE49-F238E27FC236}">
                <a16:creationId xmlns:a16="http://schemas.microsoft.com/office/drawing/2014/main" id="{3DD816A4-AC41-48AA-A777-D812AF64CBD3}"/>
              </a:ext>
            </a:extLst>
          </p:cNvPr>
          <p:cNvSpPr/>
          <p:nvPr/>
        </p:nvSpPr>
        <p:spPr>
          <a:xfrm>
            <a:off x="4897580" y="4571999"/>
            <a:ext cx="2507673" cy="116378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Pre-defined starter prompts that help first-time users begin interacting with the agent</a:t>
            </a:r>
            <a:r>
              <a:rPr lang="en-US" dirty="0"/>
              <a:t>.</a:t>
            </a:r>
            <a:endParaRPr lang="en-IN" dirty="0"/>
          </a:p>
        </p:txBody>
      </p:sp>
      <p:sp>
        <p:nvSpPr>
          <p:cNvPr id="14" name="Rectangle 13">
            <a:extLst>
              <a:ext uri="{FF2B5EF4-FFF2-40B4-BE49-F238E27FC236}">
                <a16:creationId xmlns:a16="http://schemas.microsoft.com/office/drawing/2014/main" id="{D167C8E4-8B09-430F-AB61-5A2FE20F7DF8}"/>
              </a:ext>
            </a:extLst>
          </p:cNvPr>
          <p:cNvSpPr/>
          <p:nvPr/>
        </p:nvSpPr>
        <p:spPr>
          <a:xfrm>
            <a:off x="8423561" y="2382014"/>
            <a:ext cx="2507673" cy="116378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Custom system prompt that defines the agent's role, response rules, tone, and structured output format.</a:t>
            </a:r>
            <a:endParaRPr lang="en-IN" sz="1600" dirty="0"/>
          </a:p>
        </p:txBody>
      </p:sp>
      <p:sp>
        <p:nvSpPr>
          <p:cNvPr id="15" name="Rectangle 14">
            <a:extLst>
              <a:ext uri="{FF2B5EF4-FFF2-40B4-BE49-F238E27FC236}">
                <a16:creationId xmlns:a16="http://schemas.microsoft.com/office/drawing/2014/main" id="{5FC19225-48F3-457A-B8A9-BFE089002400}"/>
              </a:ext>
            </a:extLst>
          </p:cNvPr>
          <p:cNvSpPr/>
          <p:nvPr/>
        </p:nvSpPr>
        <p:spPr>
          <a:xfrm>
            <a:off x="8423561" y="4574034"/>
            <a:ext cx="2507673" cy="116378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Built-in chat interface used to test and validate the agent's responses before deployment.</a:t>
            </a:r>
            <a:endParaRPr lang="en-IN" dirty="0"/>
          </a:p>
        </p:txBody>
      </p:sp>
    </p:spTree>
    <p:extLst>
      <p:ext uri="{BB962C8B-B14F-4D97-AF65-F5344CB8AC3E}">
        <p14:creationId xmlns:p14="http://schemas.microsoft.com/office/powerpoint/2010/main" val="164144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0FA9-4E61-433C-A7AB-6129B48EEEE0}"/>
              </a:ext>
            </a:extLst>
          </p:cNvPr>
          <p:cNvSpPr>
            <a:spLocks noGrp="1"/>
          </p:cNvSpPr>
          <p:nvPr>
            <p:ph type="ctrTitle"/>
          </p:nvPr>
        </p:nvSpPr>
        <p:spPr>
          <a:xfrm>
            <a:off x="1751012" y="1300785"/>
            <a:ext cx="8689976" cy="991841"/>
          </a:xfrm>
          <a:solidFill>
            <a:schemeClr val="accent3">
              <a:lumMod val="20000"/>
              <a:lumOff val="80000"/>
            </a:schemeClr>
          </a:solidFill>
        </p:spPr>
        <p:txBody>
          <a:bodyPr/>
          <a:lstStyle/>
          <a:p>
            <a:r>
              <a:rPr lang="en-IN" dirty="0"/>
              <a:t>AGENT WORKFLOW</a:t>
            </a:r>
          </a:p>
        </p:txBody>
      </p:sp>
      <p:sp>
        <p:nvSpPr>
          <p:cNvPr id="3" name="Subtitle 2">
            <a:extLst>
              <a:ext uri="{FF2B5EF4-FFF2-40B4-BE49-F238E27FC236}">
                <a16:creationId xmlns:a16="http://schemas.microsoft.com/office/drawing/2014/main" id="{477353C3-81C6-4C8E-8923-50F5515600C6}"/>
              </a:ext>
            </a:extLst>
          </p:cNvPr>
          <p:cNvSpPr>
            <a:spLocks noGrp="1"/>
          </p:cNvSpPr>
          <p:nvPr>
            <p:ph type="subTitle" idx="1"/>
          </p:nvPr>
        </p:nvSpPr>
        <p:spPr>
          <a:xfrm>
            <a:off x="808383" y="2292626"/>
            <a:ext cx="10933043" cy="3617844"/>
          </a:xfrm>
        </p:spPr>
        <p:txBody>
          <a:bodyPr/>
          <a:lstStyle/>
          <a:p>
            <a:endParaRPr lang="en-IN" cap="none" dirty="0">
              <a:solidFill>
                <a:schemeClr val="tx1">
                  <a:lumMod val="85000"/>
                  <a:lumOff val="15000"/>
                </a:schemeClr>
              </a:solidFill>
            </a:endParaRPr>
          </a:p>
          <a:p>
            <a:r>
              <a:rPr lang="en-IN" b="1" cap="none" dirty="0">
                <a:solidFill>
                  <a:schemeClr val="tx1">
                    <a:lumMod val="85000"/>
                    <a:lumOff val="15000"/>
                  </a:schemeClr>
                </a:solidFill>
              </a:rPr>
              <a:t>  </a:t>
            </a:r>
          </a:p>
        </p:txBody>
      </p:sp>
      <p:sp>
        <p:nvSpPr>
          <p:cNvPr id="4" name="Rectangle: Rounded Corners 3">
            <a:extLst>
              <a:ext uri="{FF2B5EF4-FFF2-40B4-BE49-F238E27FC236}">
                <a16:creationId xmlns:a16="http://schemas.microsoft.com/office/drawing/2014/main" id="{8115557C-174A-4678-80EA-5EAE961541A8}"/>
              </a:ext>
            </a:extLst>
          </p:cNvPr>
          <p:cNvSpPr/>
          <p:nvPr/>
        </p:nvSpPr>
        <p:spPr>
          <a:xfrm>
            <a:off x="863117" y="3284467"/>
            <a:ext cx="1842052" cy="2069410"/>
          </a:xfrm>
          <a:prstGeom prst="roundRect">
            <a:avLst/>
          </a:prstGeom>
          <a:solidFill>
            <a:schemeClr val="bg2">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2000" b="1" dirty="0">
              <a:solidFill>
                <a:schemeClr val="tx1"/>
              </a:solidFill>
            </a:endParaRPr>
          </a:p>
          <a:p>
            <a:pPr algn="ctr"/>
            <a:endParaRPr lang="en-IN" sz="2000" b="1" dirty="0">
              <a:solidFill>
                <a:schemeClr val="tx1"/>
              </a:solidFill>
            </a:endParaRPr>
          </a:p>
          <a:p>
            <a:pPr algn="ctr"/>
            <a:endParaRPr lang="en-IN" sz="2000" dirty="0">
              <a:solidFill>
                <a:schemeClr val="tx1"/>
              </a:solidFill>
            </a:endParaRPr>
          </a:p>
          <a:p>
            <a:pPr algn="ctr"/>
            <a:endParaRPr lang="en-IN" sz="2000" dirty="0">
              <a:solidFill>
                <a:schemeClr val="tx1"/>
              </a:solidFill>
            </a:endParaRPr>
          </a:p>
          <a:p>
            <a:pPr algn="ctr"/>
            <a:endParaRPr lang="en-IN" sz="2000" dirty="0">
              <a:solidFill>
                <a:schemeClr val="tx1"/>
              </a:solidFill>
            </a:endParaRPr>
          </a:p>
          <a:p>
            <a:pPr algn="ctr"/>
            <a:r>
              <a:rPr lang="en-IN" sz="2000" b="1" dirty="0">
                <a:solidFill>
                  <a:schemeClr val="tx1"/>
                </a:solidFill>
              </a:rPr>
              <a:t>User </a:t>
            </a:r>
          </a:p>
          <a:p>
            <a:pPr algn="ctr"/>
            <a:r>
              <a:rPr lang="en-IN" sz="2000" b="1" dirty="0">
                <a:solidFill>
                  <a:schemeClr val="tx1"/>
                </a:solidFill>
              </a:rPr>
              <a:t>Query</a:t>
            </a:r>
          </a:p>
          <a:p>
            <a:pPr algn="ctr"/>
            <a:endParaRPr lang="en-IN" sz="2000" dirty="0">
              <a:solidFill>
                <a:schemeClr val="tx1"/>
              </a:solidFill>
            </a:endParaRPr>
          </a:p>
          <a:p>
            <a:pPr algn="ctr"/>
            <a:r>
              <a:rPr lang="en-IN" sz="2000" dirty="0">
                <a:solidFill>
                  <a:schemeClr val="tx1"/>
                </a:solidFill>
              </a:rPr>
              <a:t>User types a fitness , nutrition or </a:t>
            </a:r>
            <a:r>
              <a:rPr lang="en-IN" sz="2000" dirty="0" err="1">
                <a:solidFill>
                  <a:schemeClr val="tx1"/>
                </a:solidFill>
              </a:rPr>
              <a:t>motivationquestion</a:t>
            </a:r>
            <a:r>
              <a:rPr lang="en-IN" sz="2000" dirty="0">
                <a:solidFill>
                  <a:schemeClr val="tx1"/>
                </a:solidFill>
              </a:rPr>
              <a:t> in chat</a:t>
            </a:r>
          </a:p>
          <a:p>
            <a:pPr algn="ctr"/>
            <a:endParaRPr lang="en-IN" sz="2000" b="1" dirty="0">
              <a:solidFill>
                <a:schemeClr val="tx1"/>
              </a:solidFill>
            </a:endParaRPr>
          </a:p>
          <a:p>
            <a:pPr algn="ctr"/>
            <a:endParaRPr lang="en-IN" sz="2000" b="1" dirty="0">
              <a:solidFill>
                <a:schemeClr val="tx1"/>
              </a:solidFill>
            </a:endParaRPr>
          </a:p>
          <a:p>
            <a:pPr algn="ctr"/>
            <a:endParaRPr lang="en-IN" sz="2000" b="1" dirty="0">
              <a:solidFill>
                <a:schemeClr val="tx1"/>
              </a:solidFill>
            </a:endParaRPr>
          </a:p>
          <a:p>
            <a:pPr algn="ctr"/>
            <a:endParaRPr lang="en-IN" sz="2000" b="1" dirty="0">
              <a:solidFill>
                <a:schemeClr val="tx1"/>
              </a:solidFill>
            </a:endParaRPr>
          </a:p>
          <a:p>
            <a:pPr algn="ctr"/>
            <a:endParaRPr lang="en-IN" sz="2000" b="1"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p:txBody>
      </p:sp>
      <p:sp>
        <p:nvSpPr>
          <p:cNvPr id="5" name="Rectangle: Rounded Corners 4">
            <a:extLst>
              <a:ext uri="{FF2B5EF4-FFF2-40B4-BE49-F238E27FC236}">
                <a16:creationId xmlns:a16="http://schemas.microsoft.com/office/drawing/2014/main" id="{C63510D4-3402-48D3-8497-172CCA68E523}"/>
              </a:ext>
            </a:extLst>
          </p:cNvPr>
          <p:cNvSpPr/>
          <p:nvPr/>
        </p:nvSpPr>
        <p:spPr>
          <a:xfrm>
            <a:off x="3193774" y="3284467"/>
            <a:ext cx="1762539" cy="2069411"/>
          </a:xfrm>
          <a:prstGeom prst="roundRect">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r>
              <a:rPr lang="en-IN" sz="2000" b="1" dirty="0">
                <a:solidFill>
                  <a:schemeClr val="tx1"/>
                </a:solidFill>
              </a:rPr>
              <a:t>Guideline Check</a:t>
            </a:r>
          </a:p>
          <a:p>
            <a:pPr algn="ctr"/>
            <a:endParaRPr lang="en-IN" dirty="0">
              <a:solidFill>
                <a:schemeClr val="tx2">
                  <a:lumMod val="75000"/>
                </a:schemeClr>
              </a:solidFill>
            </a:endParaRPr>
          </a:p>
          <a:p>
            <a:pPr algn="ctr"/>
            <a:endParaRPr lang="en-IN" dirty="0">
              <a:solidFill>
                <a:schemeClr val="tx2">
                  <a:lumMod val="75000"/>
                </a:schemeClr>
              </a:solidFill>
            </a:endParaRPr>
          </a:p>
          <a:p>
            <a:pPr algn="ctr"/>
            <a:r>
              <a:rPr lang="en-IN" dirty="0">
                <a:solidFill>
                  <a:schemeClr val="tx1"/>
                </a:solidFill>
              </a:rPr>
              <a:t>Agent checks the query against safety </a:t>
            </a:r>
            <a:r>
              <a:rPr lang="en-IN" dirty="0" err="1">
                <a:solidFill>
                  <a:schemeClr val="tx1"/>
                </a:solidFill>
              </a:rPr>
              <a:t>guideness</a:t>
            </a:r>
            <a:endParaRPr lang="en-IN" dirty="0">
              <a:solidFill>
                <a:schemeClr val="tx1"/>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a:p>
            <a:pPr algn="ctr"/>
            <a:endParaRPr lang="en-IN" dirty="0">
              <a:solidFill>
                <a:schemeClr val="tx2">
                  <a:lumMod val="75000"/>
                </a:schemeClr>
              </a:solidFill>
            </a:endParaRPr>
          </a:p>
        </p:txBody>
      </p:sp>
      <p:sp>
        <p:nvSpPr>
          <p:cNvPr id="6" name="Rectangle: Rounded Corners 5">
            <a:extLst>
              <a:ext uri="{FF2B5EF4-FFF2-40B4-BE49-F238E27FC236}">
                <a16:creationId xmlns:a16="http://schemas.microsoft.com/office/drawing/2014/main" id="{4C990C37-679D-46F3-BAFA-049448CC8B82}"/>
              </a:ext>
            </a:extLst>
          </p:cNvPr>
          <p:cNvSpPr/>
          <p:nvPr/>
        </p:nvSpPr>
        <p:spPr>
          <a:xfrm>
            <a:off x="5318297" y="3284466"/>
            <a:ext cx="1762539" cy="2027583"/>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85000"/>
                    <a:lumOff val="15000"/>
                  </a:schemeClr>
                </a:solidFill>
              </a:rPr>
              <a:t>Knowledge  Retrieval</a:t>
            </a:r>
          </a:p>
          <a:p>
            <a:pPr algn="ctr"/>
            <a:endParaRPr lang="en-IN" sz="1600" dirty="0">
              <a:solidFill>
                <a:schemeClr val="tx1"/>
              </a:solidFill>
            </a:endParaRPr>
          </a:p>
          <a:p>
            <a:pPr algn="ctr"/>
            <a:r>
              <a:rPr lang="en-IN" sz="1600" dirty="0">
                <a:solidFill>
                  <a:schemeClr val="tx1"/>
                </a:solidFill>
              </a:rPr>
              <a:t>Relevant selection are retrieved from the uploaded Fitness Champion knowledge base</a:t>
            </a:r>
          </a:p>
          <a:p>
            <a:pPr algn="ctr"/>
            <a:endParaRPr lang="en-IN" sz="1600" dirty="0">
              <a:solidFill>
                <a:schemeClr val="tx1"/>
              </a:solidFill>
            </a:endParaRPr>
          </a:p>
          <a:p>
            <a:pPr algn="ctr"/>
            <a:endParaRPr lang="en-IN" sz="1600" dirty="0">
              <a:solidFill>
                <a:schemeClr val="tx1"/>
              </a:solidFill>
            </a:endParaRPr>
          </a:p>
          <a:p>
            <a:pPr algn="ctr"/>
            <a:endParaRPr lang="en-IN" sz="1600" dirty="0">
              <a:solidFill>
                <a:schemeClr val="tx1"/>
              </a:solidFill>
            </a:endParaRPr>
          </a:p>
          <a:p>
            <a:pPr algn="ctr"/>
            <a:endParaRPr lang="en-IN" sz="1600" dirty="0">
              <a:solidFill>
                <a:schemeClr val="tx1"/>
              </a:solidFill>
            </a:endParaRPr>
          </a:p>
          <a:p>
            <a:pPr algn="ctr"/>
            <a:endParaRPr lang="en-IN" sz="1600" dirty="0">
              <a:solidFill>
                <a:schemeClr val="tx1"/>
              </a:solidFill>
            </a:endParaRPr>
          </a:p>
        </p:txBody>
      </p:sp>
      <p:sp>
        <p:nvSpPr>
          <p:cNvPr id="7" name="Rectangle: Rounded Corners 6">
            <a:extLst>
              <a:ext uri="{FF2B5EF4-FFF2-40B4-BE49-F238E27FC236}">
                <a16:creationId xmlns:a16="http://schemas.microsoft.com/office/drawing/2014/main" id="{D9A7D61C-F754-4301-9147-53EF35D2AD80}"/>
              </a:ext>
            </a:extLst>
          </p:cNvPr>
          <p:cNvSpPr/>
          <p:nvPr/>
        </p:nvSpPr>
        <p:spPr>
          <a:xfrm>
            <a:off x="7467600" y="3284466"/>
            <a:ext cx="1762539" cy="2069411"/>
          </a:xfrm>
          <a:prstGeom prst="round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r>
              <a:rPr lang="en-IN" sz="2000" b="1" dirty="0">
                <a:solidFill>
                  <a:schemeClr val="tx1"/>
                </a:solidFill>
              </a:rPr>
              <a:t>Response Generation</a:t>
            </a:r>
          </a:p>
          <a:p>
            <a:pPr algn="ctr"/>
            <a:endParaRPr lang="en-IN" dirty="0">
              <a:solidFill>
                <a:schemeClr val="tx1"/>
              </a:solidFill>
            </a:endParaRPr>
          </a:p>
          <a:p>
            <a:pPr algn="ctr"/>
            <a:r>
              <a:rPr lang="en-IN" sz="1600" dirty="0">
                <a:solidFill>
                  <a:schemeClr val="tx1"/>
                </a:solidFill>
              </a:rPr>
              <a:t>GPT-OSS 120B</a:t>
            </a:r>
          </a:p>
          <a:p>
            <a:pPr algn="ctr"/>
            <a:r>
              <a:rPr lang="en-IN" sz="1600" dirty="0">
                <a:solidFill>
                  <a:schemeClr val="tx1"/>
                </a:solidFill>
              </a:rPr>
              <a:t>Generates a structured answer using the behaviour prompts </a:t>
            </a:r>
            <a:r>
              <a:rPr lang="en-IN" sz="1600" dirty="0" err="1">
                <a:solidFill>
                  <a:schemeClr val="tx1"/>
                </a:solidFill>
              </a:rPr>
              <a:t>fornate</a:t>
            </a:r>
            <a:endParaRPr lang="en-IN" sz="1600" dirty="0">
              <a:solidFill>
                <a:schemeClr val="tx1"/>
              </a:solidFill>
            </a:endParaRPr>
          </a:p>
          <a:p>
            <a:pPr algn="ctr"/>
            <a:endParaRPr lang="en-IN" sz="1600" dirty="0">
              <a:solidFill>
                <a:schemeClr val="tx1"/>
              </a:solidFill>
            </a:endParaRPr>
          </a:p>
          <a:p>
            <a:pPr algn="ctr"/>
            <a:endParaRPr lang="en-IN" sz="1600"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p:txBody>
      </p:sp>
      <p:sp>
        <p:nvSpPr>
          <p:cNvPr id="8" name="Rectangle: Rounded Corners 7">
            <a:extLst>
              <a:ext uri="{FF2B5EF4-FFF2-40B4-BE49-F238E27FC236}">
                <a16:creationId xmlns:a16="http://schemas.microsoft.com/office/drawing/2014/main" id="{2E6C73FC-6D2C-4332-A047-9A7422656B3C}"/>
              </a:ext>
            </a:extLst>
          </p:cNvPr>
          <p:cNvSpPr/>
          <p:nvPr/>
        </p:nvSpPr>
        <p:spPr>
          <a:xfrm>
            <a:off x="9751875" y="3284466"/>
            <a:ext cx="1762539" cy="2069411"/>
          </a:xfrm>
          <a:prstGeom prst="round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r>
              <a:rPr lang="en-IN" sz="2000" b="1" dirty="0">
                <a:solidFill>
                  <a:schemeClr val="tx1"/>
                </a:solidFill>
              </a:rPr>
              <a:t>Structured Reply</a:t>
            </a:r>
          </a:p>
          <a:p>
            <a:pPr algn="ctr"/>
            <a:endParaRPr lang="en-IN" dirty="0">
              <a:solidFill>
                <a:schemeClr val="tx1"/>
              </a:solidFill>
            </a:endParaRPr>
          </a:p>
          <a:p>
            <a:pPr algn="ctr"/>
            <a:r>
              <a:rPr lang="en-IN" dirty="0">
                <a:solidFill>
                  <a:schemeClr val="tx1"/>
                </a:solidFill>
              </a:rPr>
              <a:t>User receives suggestion Type/detail/ tip- safe ,consistent and on -topic</a:t>
            </a: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a:p>
            <a:pPr algn="ctr"/>
            <a:endParaRPr lang="en-IN" dirty="0">
              <a:solidFill>
                <a:schemeClr val="tx1"/>
              </a:solidFill>
            </a:endParaRPr>
          </a:p>
        </p:txBody>
      </p:sp>
      <p:cxnSp>
        <p:nvCxnSpPr>
          <p:cNvPr id="12" name="Connector: Curved 11">
            <a:extLst>
              <a:ext uri="{FF2B5EF4-FFF2-40B4-BE49-F238E27FC236}">
                <a16:creationId xmlns:a16="http://schemas.microsoft.com/office/drawing/2014/main" id="{D7EFC553-213A-47E3-B687-C4934271BA0D}"/>
              </a:ext>
            </a:extLst>
          </p:cNvPr>
          <p:cNvCxnSpPr/>
          <p:nvPr/>
        </p:nvCxnSpPr>
        <p:spPr>
          <a:xfrm>
            <a:off x="2411896" y="4200939"/>
            <a:ext cx="940904" cy="463826"/>
          </a:xfrm>
          <a:prstGeom prst="curved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AD5706E3-17F7-4A5C-AB19-71A1647A603A}"/>
              </a:ext>
            </a:extLst>
          </p:cNvPr>
          <p:cNvCxnSpPr/>
          <p:nvPr/>
        </p:nvCxnSpPr>
        <p:spPr>
          <a:xfrm>
            <a:off x="4537145" y="4200939"/>
            <a:ext cx="940904" cy="463826"/>
          </a:xfrm>
          <a:prstGeom prst="curved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0220DDB7-9FD3-4144-859F-FF71754847B7}"/>
              </a:ext>
            </a:extLst>
          </p:cNvPr>
          <p:cNvCxnSpPr/>
          <p:nvPr/>
        </p:nvCxnSpPr>
        <p:spPr>
          <a:xfrm>
            <a:off x="6871252" y="4167808"/>
            <a:ext cx="940904" cy="463826"/>
          </a:xfrm>
          <a:prstGeom prst="curved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F091E69F-E2E3-4076-925F-A1EC6CD6729B}"/>
              </a:ext>
            </a:extLst>
          </p:cNvPr>
          <p:cNvCxnSpPr/>
          <p:nvPr/>
        </p:nvCxnSpPr>
        <p:spPr>
          <a:xfrm>
            <a:off x="9054411" y="4167808"/>
            <a:ext cx="940904" cy="463826"/>
          </a:xfrm>
          <a:prstGeom prst="curvedConnector3">
            <a:avLst>
              <a:gd name="adj1" fmla="val 4014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032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163B5-6444-4A74-A23F-FD36E59163C7}"/>
              </a:ext>
            </a:extLst>
          </p:cNvPr>
          <p:cNvSpPr>
            <a:spLocks noGrp="1"/>
          </p:cNvSpPr>
          <p:nvPr>
            <p:ph type="title"/>
          </p:nvPr>
        </p:nvSpPr>
        <p:spPr>
          <a:xfrm>
            <a:off x="913775" y="618518"/>
            <a:ext cx="10364451" cy="1044028"/>
          </a:xfrm>
        </p:spPr>
        <p:txBody>
          <a:bodyPr/>
          <a:lstStyle/>
          <a:p>
            <a:r>
              <a:rPr lang="en-IN" dirty="0">
                <a:solidFill>
                  <a:schemeClr val="bg2">
                    <a:lumMod val="50000"/>
                  </a:schemeClr>
                </a:solidFill>
              </a:rPr>
              <a:t>Role of agentic ai in the solution</a:t>
            </a:r>
          </a:p>
        </p:txBody>
      </p:sp>
      <p:sp>
        <p:nvSpPr>
          <p:cNvPr id="3" name="Content Placeholder 2">
            <a:extLst>
              <a:ext uri="{FF2B5EF4-FFF2-40B4-BE49-F238E27FC236}">
                <a16:creationId xmlns:a16="http://schemas.microsoft.com/office/drawing/2014/main" id="{E26E1F8B-1165-4D1A-8DE4-91B76AE24872}"/>
              </a:ext>
            </a:extLst>
          </p:cNvPr>
          <p:cNvSpPr>
            <a:spLocks noGrp="1"/>
          </p:cNvSpPr>
          <p:nvPr>
            <p:ph sz="quarter" idx="13"/>
          </p:nvPr>
        </p:nvSpPr>
        <p:spPr>
          <a:xfrm>
            <a:off x="914399" y="1662546"/>
            <a:ext cx="10363826" cy="4128653"/>
          </a:xfrm>
        </p:spPr>
        <p:txBody>
          <a:bodyPr>
            <a:normAutofit/>
          </a:bodyPr>
          <a:lstStyle/>
          <a:p>
            <a:r>
              <a:rPr lang="en-US" cap="none" dirty="0"/>
              <a:t>Agentic AI makes fitness buddy more intelligent by allowing it to understand the user's needs and respond accordingly. Instead of giving the same advice to everyone, it analyzes the user's goals and provides personalized suggestions.</a:t>
            </a:r>
          </a:p>
          <a:p>
            <a:pPr marL="0" indent="0">
              <a:buNone/>
            </a:pPr>
            <a:endParaRPr lang="en-US" cap="none" dirty="0">
              <a:solidFill>
                <a:schemeClr val="accent6">
                  <a:lumMod val="75000"/>
                </a:schemeClr>
              </a:solidFill>
            </a:endParaRPr>
          </a:p>
          <a:p>
            <a:r>
              <a:rPr lang="en-US" cap="none" dirty="0"/>
              <a:t>Understands the user's fitness goals through conversation.</a:t>
            </a:r>
          </a:p>
          <a:p>
            <a:r>
              <a:rPr lang="en-US" cap="none" dirty="0"/>
              <a:t>Recommends personalized workouts and meal plans.</a:t>
            </a:r>
          </a:p>
          <a:p>
            <a:r>
              <a:rPr lang="en-US" cap="none" dirty="0"/>
              <a:t>Gives daily motivation and reminders to keep users consistent.</a:t>
            </a:r>
          </a:p>
          <a:p>
            <a:r>
              <a:rPr lang="en-US" cap="none" dirty="0"/>
              <a:t>Provides quick responses anytime without human support</a:t>
            </a:r>
          </a:p>
          <a:p>
            <a:r>
              <a:rPr lang="en-US" cap="none" dirty="0"/>
              <a:t>Adjusts suggestions based on the user's progress and feedback.</a:t>
            </a:r>
          </a:p>
        </p:txBody>
      </p:sp>
      <p:sp>
        <p:nvSpPr>
          <p:cNvPr id="4" name="Arrow: Pentagon 3">
            <a:extLst>
              <a:ext uri="{FF2B5EF4-FFF2-40B4-BE49-F238E27FC236}">
                <a16:creationId xmlns:a16="http://schemas.microsoft.com/office/drawing/2014/main" id="{38B0A4B4-4893-4F57-A443-5701CDB90943}"/>
              </a:ext>
            </a:extLst>
          </p:cNvPr>
          <p:cNvSpPr/>
          <p:nvPr/>
        </p:nvSpPr>
        <p:spPr>
          <a:xfrm>
            <a:off x="913775" y="2900537"/>
            <a:ext cx="2439026" cy="422564"/>
          </a:xfrm>
          <a:prstGeom prst="homePlate">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75000"/>
                  </a:schemeClr>
                </a:solidFill>
              </a:rPr>
              <a:t>Role of Agentic Ai</a:t>
            </a:r>
            <a:endParaRPr lang="en-IN" dirty="0"/>
          </a:p>
        </p:txBody>
      </p:sp>
    </p:spTree>
    <p:extLst>
      <p:ext uri="{BB962C8B-B14F-4D97-AF65-F5344CB8AC3E}">
        <p14:creationId xmlns:p14="http://schemas.microsoft.com/office/powerpoint/2010/main" val="2931927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09282-D40A-44F5-A8C1-5F61EBFC14DF}"/>
              </a:ext>
            </a:extLst>
          </p:cNvPr>
          <p:cNvSpPr>
            <a:spLocks noGrp="1"/>
          </p:cNvSpPr>
          <p:nvPr>
            <p:ph type="title"/>
          </p:nvPr>
        </p:nvSpPr>
        <p:spPr>
          <a:xfrm>
            <a:off x="913775" y="618518"/>
            <a:ext cx="10364451" cy="1044028"/>
          </a:xfrm>
        </p:spPr>
        <p:txBody>
          <a:bodyPr/>
          <a:lstStyle/>
          <a:p>
            <a:r>
              <a:rPr lang="en-IN" dirty="0">
                <a:solidFill>
                  <a:schemeClr val="bg2">
                    <a:lumMod val="50000"/>
                  </a:schemeClr>
                </a:solidFill>
              </a:rPr>
              <a:t>uniqueness</a:t>
            </a:r>
          </a:p>
        </p:txBody>
      </p:sp>
      <p:sp>
        <p:nvSpPr>
          <p:cNvPr id="3" name="Content Placeholder 2">
            <a:extLst>
              <a:ext uri="{FF2B5EF4-FFF2-40B4-BE49-F238E27FC236}">
                <a16:creationId xmlns:a16="http://schemas.microsoft.com/office/drawing/2014/main" id="{EED4CC5E-6588-40E6-8657-1BA36C2D97B8}"/>
              </a:ext>
            </a:extLst>
          </p:cNvPr>
          <p:cNvSpPr>
            <a:spLocks noGrp="1"/>
          </p:cNvSpPr>
          <p:nvPr>
            <p:ph sz="quarter" idx="13"/>
          </p:nvPr>
        </p:nvSpPr>
        <p:spPr>
          <a:xfrm>
            <a:off x="913774" y="1662546"/>
            <a:ext cx="10363826" cy="4128653"/>
          </a:xfrm>
        </p:spPr>
        <p:txBody>
          <a:bodyPr/>
          <a:lstStyle/>
          <a:p>
            <a:pPr marL="0" indent="0">
              <a:buNone/>
            </a:pPr>
            <a:r>
              <a:rPr lang="en-US" dirty="0"/>
              <a:t>.</a:t>
            </a:r>
            <a:endParaRPr lang="en-IN" dirty="0"/>
          </a:p>
        </p:txBody>
      </p:sp>
      <p:sp>
        <p:nvSpPr>
          <p:cNvPr id="4" name="Rectangle: Single Corner Rounded 3">
            <a:extLst>
              <a:ext uri="{FF2B5EF4-FFF2-40B4-BE49-F238E27FC236}">
                <a16:creationId xmlns:a16="http://schemas.microsoft.com/office/drawing/2014/main" id="{F1318FE7-9771-4554-966D-9D8A660CE43B}"/>
              </a:ext>
            </a:extLst>
          </p:cNvPr>
          <p:cNvSpPr/>
          <p:nvPr/>
        </p:nvSpPr>
        <p:spPr>
          <a:xfrm>
            <a:off x="986973" y="1662546"/>
            <a:ext cx="3405809" cy="1454426"/>
          </a:xfrm>
          <a:prstGeom prst="round1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Provides personalized workout and diet suggestions for each user.</a:t>
            </a:r>
            <a:endParaRPr lang="en-IN">
              <a:solidFill>
                <a:schemeClr val="tx1"/>
              </a:solidFill>
            </a:endParaRPr>
          </a:p>
        </p:txBody>
      </p:sp>
      <p:sp>
        <p:nvSpPr>
          <p:cNvPr id="5" name="Rectangle: Single Corner Rounded 4">
            <a:extLst>
              <a:ext uri="{FF2B5EF4-FFF2-40B4-BE49-F238E27FC236}">
                <a16:creationId xmlns:a16="http://schemas.microsoft.com/office/drawing/2014/main" id="{428EB1B8-5E9B-43C4-A2E0-2DB2F1E3C783}"/>
              </a:ext>
            </a:extLst>
          </p:cNvPr>
          <p:cNvSpPr/>
          <p:nvPr/>
        </p:nvSpPr>
        <p:spPr>
          <a:xfrm>
            <a:off x="2451339" y="3902831"/>
            <a:ext cx="3405809" cy="1454426"/>
          </a:xfrm>
          <a:prstGeom prst="round1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Gives both fitness and nutrition guidance in one place.</a:t>
            </a:r>
          </a:p>
          <a:p>
            <a:pPr algn="ctr"/>
            <a:r>
              <a:rPr lang="en-US" dirty="0"/>
              <a:t>Uses agentic AI to understand the user's needs and provide smart responses</a:t>
            </a:r>
            <a:endParaRPr lang="en-IN" dirty="0"/>
          </a:p>
        </p:txBody>
      </p:sp>
      <p:sp>
        <p:nvSpPr>
          <p:cNvPr id="7" name="Rectangle: Single Corner Rounded 6">
            <a:extLst>
              <a:ext uri="{FF2B5EF4-FFF2-40B4-BE49-F238E27FC236}">
                <a16:creationId xmlns:a16="http://schemas.microsoft.com/office/drawing/2014/main" id="{3E2DA571-D90B-4C73-84CE-36962DC85EAF}"/>
              </a:ext>
            </a:extLst>
          </p:cNvPr>
          <p:cNvSpPr/>
          <p:nvPr/>
        </p:nvSpPr>
        <p:spPr>
          <a:xfrm>
            <a:off x="5857148" y="1662546"/>
            <a:ext cx="3405809" cy="1454426"/>
          </a:xfrm>
          <a:prstGeom prst="round1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Works like a virtual fitness coach that is available 24/7</a:t>
            </a:r>
            <a:endParaRPr lang="en-IN" dirty="0"/>
          </a:p>
        </p:txBody>
      </p:sp>
      <p:sp>
        <p:nvSpPr>
          <p:cNvPr id="8" name="Rectangle: Single Corner Rounded 7">
            <a:extLst>
              <a:ext uri="{FF2B5EF4-FFF2-40B4-BE49-F238E27FC236}">
                <a16:creationId xmlns:a16="http://schemas.microsoft.com/office/drawing/2014/main" id="{1627CBCF-0F1D-465F-BE27-7F900A284A16}"/>
              </a:ext>
            </a:extLst>
          </p:cNvPr>
          <p:cNvSpPr/>
          <p:nvPr/>
        </p:nvSpPr>
        <p:spPr>
          <a:xfrm>
            <a:off x="7904921" y="3902831"/>
            <a:ext cx="3405809" cy="1454426"/>
          </a:xfrm>
          <a:prstGeom prst="round1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Sends daily motivation and reminders to help users stay consistent.</a:t>
            </a:r>
          </a:p>
          <a:p>
            <a:pPr algn="ctr"/>
            <a:endParaRPr lang="en-US" dirty="0"/>
          </a:p>
          <a:p>
            <a:pPr algn="ctr"/>
            <a:endParaRPr lang="en-IN" dirty="0">
              <a:solidFill>
                <a:schemeClr val="tx1"/>
              </a:solidFill>
            </a:endParaRPr>
          </a:p>
        </p:txBody>
      </p:sp>
    </p:spTree>
    <p:extLst>
      <p:ext uri="{BB962C8B-B14F-4D97-AF65-F5344CB8AC3E}">
        <p14:creationId xmlns:p14="http://schemas.microsoft.com/office/powerpoint/2010/main" val="574804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03AAF-8F50-49C7-8366-3E3DDD40B0FE}"/>
              </a:ext>
            </a:extLst>
          </p:cNvPr>
          <p:cNvSpPr>
            <a:spLocks noGrp="1"/>
          </p:cNvSpPr>
          <p:nvPr>
            <p:ph type="title"/>
          </p:nvPr>
        </p:nvSpPr>
        <p:spPr>
          <a:xfrm>
            <a:off x="913774" y="277091"/>
            <a:ext cx="10364451" cy="572884"/>
          </a:xfrm>
        </p:spPr>
        <p:txBody>
          <a:bodyPr>
            <a:normAutofit fontScale="90000"/>
          </a:bodyPr>
          <a:lstStyle/>
          <a:p>
            <a:r>
              <a:rPr lang="en-IN" dirty="0"/>
              <a:t>Testing ai agent</a:t>
            </a:r>
          </a:p>
        </p:txBody>
      </p:sp>
      <p:pic>
        <p:nvPicPr>
          <p:cNvPr id="4" name="Content Placeholder 3">
            <a:extLst>
              <a:ext uri="{FF2B5EF4-FFF2-40B4-BE49-F238E27FC236}">
                <a16:creationId xmlns:a16="http://schemas.microsoft.com/office/drawing/2014/main" id="{A1EABA6A-47A1-4E33-A04E-DBDC56A16680}"/>
              </a:ext>
            </a:extLst>
          </p:cNvPr>
          <p:cNvPicPr>
            <a:picLocks noGrp="1"/>
          </p:cNvPicPr>
          <p:nvPr>
            <p:ph sz="quarter" idx="13"/>
          </p:nvPr>
        </p:nvPicPr>
        <p:blipFill>
          <a:blip r:embed="rId2"/>
          <a:stretch>
            <a:fillRect/>
          </a:stretch>
        </p:blipFill>
        <p:spPr>
          <a:xfrm>
            <a:off x="-113430" y="849975"/>
            <a:ext cx="4260898" cy="2997087"/>
          </a:xfrm>
          <a:prstGeom prst="rect">
            <a:avLst/>
          </a:prstGeom>
        </p:spPr>
      </p:pic>
      <p:pic>
        <p:nvPicPr>
          <p:cNvPr id="5" name="Picture 4">
            <a:extLst>
              <a:ext uri="{FF2B5EF4-FFF2-40B4-BE49-F238E27FC236}">
                <a16:creationId xmlns:a16="http://schemas.microsoft.com/office/drawing/2014/main" id="{9F0BC065-7212-4D69-96B6-50AB6B29B524}"/>
              </a:ext>
            </a:extLst>
          </p:cNvPr>
          <p:cNvPicPr/>
          <p:nvPr/>
        </p:nvPicPr>
        <p:blipFill rotWithShape="1">
          <a:blip r:embed="rId3"/>
          <a:srcRect l="39834"/>
          <a:stretch/>
        </p:blipFill>
        <p:spPr>
          <a:xfrm>
            <a:off x="0" y="3847062"/>
            <a:ext cx="3117898" cy="3149487"/>
          </a:xfrm>
          <a:prstGeom prst="rect">
            <a:avLst/>
          </a:prstGeom>
        </p:spPr>
      </p:pic>
      <p:pic>
        <p:nvPicPr>
          <p:cNvPr id="7" name="Picture 6">
            <a:extLst>
              <a:ext uri="{FF2B5EF4-FFF2-40B4-BE49-F238E27FC236}">
                <a16:creationId xmlns:a16="http://schemas.microsoft.com/office/drawing/2014/main" id="{E9E6B5AB-A7BA-431F-AACC-7FA1CC4A2371}"/>
              </a:ext>
            </a:extLst>
          </p:cNvPr>
          <p:cNvPicPr/>
          <p:nvPr/>
        </p:nvPicPr>
        <p:blipFill rotWithShape="1">
          <a:blip r:embed="rId4"/>
          <a:srcRect l="56777"/>
          <a:stretch/>
        </p:blipFill>
        <p:spPr>
          <a:xfrm>
            <a:off x="8472680" y="1177637"/>
            <a:ext cx="2805545" cy="3990108"/>
          </a:xfrm>
          <a:prstGeom prst="rect">
            <a:avLst/>
          </a:prstGeom>
        </p:spPr>
      </p:pic>
      <p:pic>
        <p:nvPicPr>
          <p:cNvPr id="8" name="Picture 7">
            <a:extLst>
              <a:ext uri="{FF2B5EF4-FFF2-40B4-BE49-F238E27FC236}">
                <a16:creationId xmlns:a16="http://schemas.microsoft.com/office/drawing/2014/main" id="{93ADB155-2A3B-4676-980F-DC9982D4A8FF}"/>
              </a:ext>
            </a:extLst>
          </p:cNvPr>
          <p:cNvPicPr/>
          <p:nvPr/>
        </p:nvPicPr>
        <p:blipFill rotWithShape="1">
          <a:blip r:embed="rId5"/>
          <a:srcRect l="42890" t="1725" r="-42890" b="-1725"/>
          <a:stretch/>
        </p:blipFill>
        <p:spPr>
          <a:xfrm>
            <a:off x="4471310" y="849975"/>
            <a:ext cx="5943600" cy="4457700"/>
          </a:xfrm>
          <a:prstGeom prst="rect">
            <a:avLst/>
          </a:prstGeom>
        </p:spPr>
      </p:pic>
    </p:spTree>
    <p:extLst>
      <p:ext uri="{BB962C8B-B14F-4D97-AF65-F5344CB8AC3E}">
        <p14:creationId xmlns:p14="http://schemas.microsoft.com/office/powerpoint/2010/main" val="1029619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FBC6D-9809-4110-8F27-E3D81507E34F}"/>
              </a:ext>
            </a:extLst>
          </p:cNvPr>
          <p:cNvSpPr>
            <a:spLocks noGrp="1"/>
          </p:cNvSpPr>
          <p:nvPr>
            <p:ph type="title"/>
          </p:nvPr>
        </p:nvSpPr>
        <p:spPr>
          <a:xfrm>
            <a:off x="913775" y="618518"/>
            <a:ext cx="10364451" cy="309738"/>
          </a:xfrm>
        </p:spPr>
        <p:txBody>
          <a:bodyPr>
            <a:normAutofit fontScale="90000"/>
          </a:bodyPr>
          <a:lstStyle/>
          <a:p>
            <a:r>
              <a:rPr lang="en-IN" dirty="0"/>
              <a:t>Testing &amp; deploying</a:t>
            </a:r>
          </a:p>
        </p:txBody>
      </p:sp>
      <p:pic>
        <p:nvPicPr>
          <p:cNvPr id="4" name="Content Placeholder 3">
            <a:extLst>
              <a:ext uri="{FF2B5EF4-FFF2-40B4-BE49-F238E27FC236}">
                <a16:creationId xmlns:a16="http://schemas.microsoft.com/office/drawing/2014/main" id="{A901A44D-5321-4DD3-B214-DE687ED54B55}"/>
              </a:ext>
            </a:extLst>
          </p:cNvPr>
          <p:cNvPicPr>
            <a:picLocks noGrp="1"/>
          </p:cNvPicPr>
          <p:nvPr>
            <p:ph sz="quarter" idx="13"/>
          </p:nvPr>
        </p:nvPicPr>
        <p:blipFill>
          <a:blip r:embed="rId2"/>
          <a:stretch>
            <a:fillRect/>
          </a:stretch>
        </p:blipFill>
        <p:spPr>
          <a:xfrm>
            <a:off x="0" y="1518437"/>
            <a:ext cx="4565649" cy="3424237"/>
          </a:xfrm>
          <a:prstGeom prst="rect">
            <a:avLst/>
          </a:prstGeom>
        </p:spPr>
      </p:pic>
      <p:pic>
        <p:nvPicPr>
          <p:cNvPr id="5" name="Picture 4">
            <a:extLst>
              <a:ext uri="{FF2B5EF4-FFF2-40B4-BE49-F238E27FC236}">
                <a16:creationId xmlns:a16="http://schemas.microsoft.com/office/drawing/2014/main" id="{62B2F844-8F19-4694-AE0B-43C79C25C26D}"/>
              </a:ext>
            </a:extLst>
          </p:cNvPr>
          <p:cNvPicPr/>
          <p:nvPr/>
        </p:nvPicPr>
        <p:blipFill rotWithShape="1">
          <a:blip r:embed="rId3"/>
          <a:srcRect r="14108"/>
          <a:stretch/>
        </p:blipFill>
        <p:spPr>
          <a:xfrm>
            <a:off x="8681023" y="1586064"/>
            <a:ext cx="3510977" cy="3356610"/>
          </a:xfrm>
          <a:prstGeom prst="rect">
            <a:avLst/>
          </a:prstGeom>
        </p:spPr>
      </p:pic>
      <p:pic>
        <p:nvPicPr>
          <p:cNvPr id="6" name="Picture 5">
            <a:extLst>
              <a:ext uri="{FF2B5EF4-FFF2-40B4-BE49-F238E27FC236}">
                <a16:creationId xmlns:a16="http://schemas.microsoft.com/office/drawing/2014/main" id="{FAC3C569-C961-4D26-A35A-576F1738D90E}"/>
              </a:ext>
            </a:extLst>
          </p:cNvPr>
          <p:cNvPicPr/>
          <p:nvPr/>
        </p:nvPicPr>
        <p:blipFill>
          <a:blip r:embed="rId4"/>
          <a:stretch>
            <a:fillRect/>
          </a:stretch>
        </p:blipFill>
        <p:spPr>
          <a:xfrm>
            <a:off x="4662631" y="1518437"/>
            <a:ext cx="4018392" cy="3356610"/>
          </a:xfrm>
          <a:prstGeom prst="rect">
            <a:avLst/>
          </a:prstGeom>
        </p:spPr>
      </p:pic>
    </p:spTree>
    <p:extLst>
      <p:ext uri="{BB962C8B-B14F-4D97-AF65-F5344CB8AC3E}">
        <p14:creationId xmlns:p14="http://schemas.microsoft.com/office/powerpoint/2010/main" val="1209129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96A54-1CA6-4BE1-B53E-437030D856F5}"/>
              </a:ext>
            </a:extLst>
          </p:cNvPr>
          <p:cNvSpPr>
            <a:spLocks noGrp="1"/>
          </p:cNvSpPr>
          <p:nvPr>
            <p:ph type="title"/>
          </p:nvPr>
        </p:nvSpPr>
        <p:spPr/>
        <p:txBody>
          <a:bodyPr/>
          <a:lstStyle/>
          <a:p>
            <a:r>
              <a:rPr lang="en-IN" dirty="0" err="1">
                <a:solidFill>
                  <a:schemeClr val="bg2">
                    <a:lumMod val="50000"/>
                  </a:schemeClr>
                </a:solidFill>
              </a:rPr>
              <a:t>Github</a:t>
            </a:r>
            <a:r>
              <a:rPr lang="en-IN" dirty="0">
                <a:solidFill>
                  <a:schemeClr val="bg2">
                    <a:lumMod val="50000"/>
                  </a:schemeClr>
                </a:solidFill>
              </a:rPr>
              <a:t> link</a:t>
            </a:r>
          </a:p>
        </p:txBody>
      </p:sp>
      <p:sp>
        <p:nvSpPr>
          <p:cNvPr id="3" name="Content Placeholder 2">
            <a:extLst>
              <a:ext uri="{FF2B5EF4-FFF2-40B4-BE49-F238E27FC236}">
                <a16:creationId xmlns:a16="http://schemas.microsoft.com/office/drawing/2014/main" id="{085CDF05-51FF-4B5D-AD4A-8AE70328A916}"/>
              </a:ext>
            </a:extLst>
          </p:cNvPr>
          <p:cNvSpPr>
            <a:spLocks noGrp="1"/>
          </p:cNvSpPr>
          <p:nvPr>
            <p:ph sz="quarter" idx="13"/>
          </p:nvPr>
        </p:nvSpPr>
        <p:spPr/>
        <p:txBody>
          <a:bodyPr/>
          <a:lstStyle/>
          <a:p>
            <a:r>
              <a:rPr lang="en-IN" cap="none" dirty="0">
                <a:solidFill>
                  <a:schemeClr val="bg2">
                    <a:lumMod val="75000"/>
                  </a:schemeClr>
                </a:solidFill>
              </a:rPr>
              <a:t> RESPOSITORY URL    </a:t>
            </a:r>
            <a:r>
              <a:rPr lang="en-IN" cap="none" dirty="0"/>
              <a:t>-     </a:t>
            </a:r>
            <a:r>
              <a:rPr lang="en-IN" cap="none" dirty="0">
                <a:hlinkClick r:id="rId2"/>
              </a:rPr>
              <a:t>https://Github.Com/Arpitajha-art/FITNESS-CHAMPION</a:t>
            </a:r>
            <a:endParaRPr lang="en-IN" cap="none" dirty="0"/>
          </a:p>
          <a:p>
            <a:r>
              <a:rPr lang="en-IN" cap="none" dirty="0">
                <a:solidFill>
                  <a:schemeClr val="bg2">
                    <a:lumMod val="50000"/>
                  </a:schemeClr>
                </a:solidFill>
              </a:rPr>
              <a:t>AICTE STUDENT ID    </a:t>
            </a:r>
            <a:r>
              <a:rPr lang="en-IN" dirty="0"/>
              <a:t>STU69e8733c8ca881776841532</a:t>
            </a:r>
          </a:p>
          <a:p>
            <a:endParaRPr lang="en-IN" cap="none" dirty="0">
              <a:solidFill>
                <a:schemeClr val="bg2">
                  <a:lumMod val="50000"/>
                </a:schemeClr>
              </a:solidFill>
            </a:endParaRPr>
          </a:p>
        </p:txBody>
      </p:sp>
    </p:spTree>
    <p:extLst>
      <p:ext uri="{BB962C8B-B14F-4D97-AF65-F5344CB8AC3E}">
        <p14:creationId xmlns:p14="http://schemas.microsoft.com/office/powerpoint/2010/main" val="3370168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2F80D-B639-43AC-8AC8-1AB9C352DD54}"/>
              </a:ext>
            </a:extLst>
          </p:cNvPr>
          <p:cNvSpPr>
            <a:spLocks noGrp="1"/>
          </p:cNvSpPr>
          <p:nvPr>
            <p:ph type="title"/>
          </p:nvPr>
        </p:nvSpPr>
        <p:spPr>
          <a:xfrm>
            <a:off x="913775" y="618517"/>
            <a:ext cx="10364451" cy="1016319"/>
          </a:xfrm>
        </p:spPr>
        <p:txBody>
          <a:bodyPr/>
          <a:lstStyle/>
          <a:p>
            <a:r>
              <a:rPr lang="en-IN" dirty="0">
                <a:solidFill>
                  <a:schemeClr val="bg2">
                    <a:lumMod val="50000"/>
                  </a:schemeClr>
                </a:solidFill>
              </a:rPr>
              <a:t>Future scope</a:t>
            </a:r>
          </a:p>
        </p:txBody>
      </p:sp>
      <p:sp>
        <p:nvSpPr>
          <p:cNvPr id="3" name="Content Placeholder 2">
            <a:extLst>
              <a:ext uri="{FF2B5EF4-FFF2-40B4-BE49-F238E27FC236}">
                <a16:creationId xmlns:a16="http://schemas.microsoft.com/office/drawing/2014/main" id="{12BAA67D-8D09-4A0F-9630-05E5E5F5E1FC}"/>
              </a:ext>
            </a:extLst>
          </p:cNvPr>
          <p:cNvSpPr>
            <a:spLocks noGrp="1"/>
          </p:cNvSpPr>
          <p:nvPr>
            <p:ph sz="quarter" idx="13"/>
          </p:nvPr>
        </p:nvSpPr>
        <p:spPr>
          <a:xfrm>
            <a:off x="913774" y="1828800"/>
            <a:ext cx="10363826" cy="4625009"/>
          </a:xfrm>
        </p:spPr>
        <p:txBody>
          <a:bodyPr>
            <a:normAutofit/>
          </a:bodyPr>
          <a:lstStyle/>
          <a:p>
            <a:pPr marL="914400" lvl="2" indent="0">
              <a:buNone/>
            </a:pPr>
            <a:endParaRPr lang="en-US" sz="2000" cap="none" dirty="0"/>
          </a:p>
          <a:p>
            <a:pPr marL="914400" lvl="2" indent="0">
              <a:buNone/>
            </a:pPr>
            <a:endParaRPr lang="en-US" sz="2000" cap="none" dirty="0"/>
          </a:p>
          <a:p>
            <a:pPr marL="914400" lvl="2" indent="0">
              <a:buNone/>
            </a:pPr>
            <a:endParaRPr lang="en-IN" cap="none" dirty="0"/>
          </a:p>
        </p:txBody>
      </p:sp>
      <p:sp>
        <p:nvSpPr>
          <p:cNvPr id="4" name="Rectangle: Top Corners Rounded 3">
            <a:extLst>
              <a:ext uri="{FF2B5EF4-FFF2-40B4-BE49-F238E27FC236}">
                <a16:creationId xmlns:a16="http://schemas.microsoft.com/office/drawing/2014/main" id="{1D174092-D488-4D06-BE7C-0D159E153564}"/>
              </a:ext>
            </a:extLst>
          </p:cNvPr>
          <p:cNvSpPr/>
          <p:nvPr/>
        </p:nvSpPr>
        <p:spPr>
          <a:xfrm>
            <a:off x="1351722" y="1828800"/>
            <a:ext cx="3511826" cy="1166191"/>
          </a:xfrm>
          <a:prstGeom prst="round2Same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mental health and stress management tips along with fitness guidance</a:t>
            </a:r>
            <a:endParaRPr lang="en-IN" dirty="0">
              <a:solidFill>
                <a:schemeClr val="tx1"/>
              </a:solidFill>
            </a:endParaRPr>
          </a:p>
        </p:txBody>
      </p:sp>
      <p:sp>
        <p:nvSpPr>
          <p:cNvPr id="5" name="Rectangle: Top Corners Rounded 4">
            <a:extLst>
              <a:ext uri="{FF2B5EF4-FFF2-40B4-BE49-F238E27FC236}">
                <a16:creationId xmlns:a16="http://schemas.microsoft.com/office/drawing/2014/main" id="{31B06CFD-AC69-4BB8-A5B7-DDA7DE9B61BA}"/>
              </a:ext>
            </a:extLst>
          </p:cNvPr>
          <p:cNvSpPr/>
          <p:nvPr/>
        </p:nvSpPr>
        <p:spPr>
          <a:xfrm>
            <a:off x="1351722" y="3279914"/>
            <a:ext cx="3511826" cy="1166191"/>
          </a:xfrm>
          <a:prstGeom prst="round2Same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Include voice assistant support so users can talk to the ai instead of typing</a:t>
            </a:r>
            <a:endParaRPr lang="en-IN"/>
          </a:p>
        </p:txBody>
      </p:sp>
      <p:sp>
        <p:nvSpPr>
          <p:cNvPr id="6" name="Rectangle: Top Corners Rounded 5">
            <a:extLst>
              <a:ext uri="{FF2B5EF4-FFF2-40B4-BE49-F238E27FC236}">
                <a16:creationId xmlns:a16="http://schemas.microsoft.com/office/drawing/2014/main" id="{7A54FC4A-1EC9-4A53-8815-BBEB156A03A3}"/>
              </a:ext>
            </a:extLst>
          </p:cNvPr>
          <p:cNvSpPr/>
          <p:nvPr/>
        </p:nvSpPr>
        <p:spPr>
          <a:xfrm>
            <a:off x="6314661" y="1828800"/>
            <a:ext cx="3511826" cy="1166191"/>
          </a:xfrm>
          <a:prstGeom prst="round2Same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 support for smartwatches and fitness bands to track steps, heart rate, and calories automatically.</a:t>
            </a:r>
            <a:endParaRPr lang="en-IN" dirty="0"/>
          </a:p>
        </p:txBody>
      </p:sp>
      <p:sp>
        <p:nvSpPr>
          <p:cNvPr id="7" name="Rectangle: Top Corners Rounded 6">
            <a:extLst>
              <a:ext uri="{FF2B5EF4-FFF2-40B4-BE49-F238E27FC236}">
                <a16:creationId xmlns:a16="http://schemas.microsoft.com/office/drawing/2014/main" id="{CDDA3592-744F-4132-A257-8B35D63A3E73}"/>
              </a:ext>
            </a:extLst>
          </p:cNvPr>
          <p:cNvSpPr/>
          <p:nvPr/>
        </p:nvSpPr>
        <p:spPr>
          <a:xfrm>
            <a:off x="6433930" y="3279914"/>
            <a:ext cx="3511826" cy="1166191"/>
          </a:xfrm>
          <a:prstGeom prst="round2Same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Support multiple languages so more people can use the app.</a:t>
            </a:r>
            <a:endParaRPr lang="en-IN" dirty="0">
              <a:solidFill>
                <a:schemeClr val="tx1"/>
              </a:solidFill>
            </a:endParaRPr>
          </a:p>
        </p:txBody>
      </p:sp>
      <p:sp>
        <p:nvSpPr>
          <p:cNvPr id="8" name="Rectangle: Top Corners Rounded 7">
            <a:extLst>
              <a:ext uri="{FF2B5EF4-FFF2-40B4-BE49-F238E27FC236}">
                <a16:creationId xmlns:a16="http://schemas.microsoft.com/office/drawing/2014/main" id="{62E8F4B4-15ED-49EF-B460-78800814A185}"/>
              </a:ext>
            </a:extLst>
          </p:cNvPr>
          <p:cNvSpPr/>
          <p:nvPr/>
        </p:nvSpPr>
        <p:spPr>
          <a:xfrm>
            <a:off x="1351722" y="4866861"/>
            <a:ext cx="3511826" cy="1166191"/>
          </a:xfrm>
          <a:prstGeom prst="round2SameRect">
            <a:avLst/>
          </a:prstGeom>
          <a:solidFill>
            <a:srgbClr val="BCD9F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 ai to give more accurate and personalized workout and diet plans as users make progress</a:t>
            </a:r>
            <a:r>
              <a:rPr lang="en-US" dirty="0"/>
              <a:t>.</a:t>
            </a:r>
            <a:endParaRPr lang="en-IN" dirty="0"/>
          </a:p>
        </p:txBody>
      </p:sp>
      <p:sp>
        <p:nvSpPr>
          <p:cNvPr id="9" name="Rectangle: Top Corners Rounded 8">
            <a:extLst>
              <a:ext uri="{FF2B5EF4-FFF2-40B4-BE49-F238E27FC236}">
                <a16:creationId xmlns:a16="http://schemas.microsoft.com/office/drawing/2014/main" id="{5A662394-5512-41BA-9BA3-AE4CDAE65D58}"/>
              </a:ext>
            </a:extLst>
          </p:cNvPr>
          <p:cNvSpPr/>
          <p:nvPr/>
        </p:nvSpPr>
        <p:spPr>
          <a:xfrm>
            <a:off x="6433930" y="4830419"/>
            <a:ext cx="3511826" cy="1166191"/>
          </a:xfrm>
          <a:prstGeom prst="round2Same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Add video-based workout guidance with step-by-step instructions</a:t>
            </a:r>
            <a:endParaRPr lang="en-IN" dirty="0"/>
          </a:p>
        </p:txBody>
      </p:sp>
    </p:spTree>
    <p:extLst>
      <p:ext uri="{BB962C8B-B14F-4D97-AF65-F5344CB8AC3E}">
        <p14:creationId xmlns:p14="http://schemas.microsoft.com/office/powerpoint/2010/main" val="1659766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98D75-8818-4763-9647-84A5D28CB9D6}"/>
              </a:ext>
            </a:extLst>
          </p:cNvPr>
          <p:cNvSpPr>
            <a:spLocks noGrp="1"/>
          </p:cNvSpPr>
          <p:nvPr>
            <p:ph type="title"/>
          </p:nvPr>
        </p:nvSpPr>
        <p:spPr/>
        <p:txBody>
          <a:bodyPr/>
          <a:lstStyle/>
          <a:p>
            <a:pPr algn="l"/>
            <a:r>
              <a:rPr lang="en-IN" dirty="0"/>
              <a:t>Certificates earned</a:t>
            </a:r>
          </a:p>
        </p:txBody>
      </p:sp>
      <p:pic>
        <p:nvPicPr>
          <p:cNvPr id="4" name="Content Placeholder 3">
            <a:extLst>
              <a:ext uri="{FF2B5EF4-FFF2-40B4-BE49-F238E27FC236}">
                <a16:creationId xmlns:a16="http://schemas.microsoft.com/office/drawing/2014/main" id="{524603B2-35C9-46CA-B3F1-35D68337E219}"/>
              </a:ext>
            </a:extLst>
          </p:cNvPr>
          <p:cNvPicPr>
            <a:picLocks noGrp="1" noChangeAspect="1"/>
          </p:cNvPicPr>
          <p:nvPr>
            <p:ph sz="quarter" idx="13"/>
          </p:nvPr>
        </p:nvPicPr>
        <p:blipFill rotWithShape="1">
          <a:blip r:embed="rId2"/>
          <a:srcRect t="29781" b="29891"/>
          <a:stretch/>
        </p:blipFill>
        <p:spPr>
          <a:xfrm>
            <a:off x="1191492" y="1814945"/>
            <a:ext cx="7813964" cy="4627419"/>
          </a:xfrm>
          <a:prstGeom prst="rect">
            <a:avLst/>
          </a:prstGeom>
        </p:spPr>
      </p:pic>
    </p:spTree>
    <p:extLst>
      <p:ext uri="{BB962C8B-B14F-4D97-AF65-F5344CB8AC3E}">
        <p14:creationId xmlns:p14="http://schemas.microsoft.com/office/powerpoint/2010/main" val="223694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002B4-2FD1-49B9-A034-9C347A5AE10D}"/>
              </a:ext>
            </a:extLst>
          </p:cNvPr>
          <p:cNvSpPr>
            <a:spLocks noGrp="1"/>
          </p:cNvSpPr>
          <p:nvPr>
            <p:ph type="title"/>
          </p:nvPr>
        </p:nvSpPr>
        <p:spPr/>
        <p:txBody>
          <a:bodyPr/>
          <a:lstStyle/>
          <a:p>
            <a:pPr algn="l"/>
            <a:r>
              <a:rPr lang="en-IN" dirty="0"/>
              <a:t>Certificates earned</a:t>
            </a:r>
          </a:p>
        </p:txBody>
      </p:sp>
      <p:pic>
        <p:nvPicPr>
          <p:cNvPr id="4" name="Content Placeholder 3">
            <a:extLst>
              <a:ext uri="{FF2B5EF4-FFF2-40B4-BE49-F238E27FC236}">
                <a16:creationId xmlns:a16="http://schemas.microsoft.com/office/drawing/2014/main" id="{62A74987-E534-4CFC-A9A0-9D61F1721C1A}"/>
              </a:ext>
            </a:extLst>
          </p:cNvPr>
          <p:cNvPicPr>
            <a:picLocks noGrp="1" noChangeAspect="1"/>
          </p:cNvPicPr>
          <p:nvPr>
            <p:ph sz="quarter" idx="13"/>
          </p:nvPr>
        </p:nvPicPr>
        <p:blipFill rotWithShape="1">
          <a:blip r:embed="rId2"/>
          <a:srcRect t="16971" b="36414"/>
          <a:stretch/>
        </p:blipFill>
        <p:spPr>
          <a:xfrm>
            <a:off x="1440873" y="1759526"/>
            <a:ext cx="7619999" cy="4378037"/>
          </a:xfrm>
          <a:prstGeom prst="rect">
            <a:avLst/>
          </a:prstGeom>
        </p:spPr>
      </p:pic>
    </p:spTree>
    <p:extLst>
      <p:ext uri="{BB962C8B-B14F-4D97-AF65-F5344CB8AC3E}">
        <p14:creationId xmlns:p14="http://schemas.microsoft.com/office/powerpoint/2010/main" val="559406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0DA1D-9F9B-4ED2-B5D2-6F9283F23C36}"/>
              </a:ext>
            </a:extLst>
          </p:cNvPr>
          <p:cNvSpPr>
            <a:spLocks noGrp="1"/>
          </p:cNvSpPr>
          <p:nvPr>
            <p:ph type="title"/>
          </p:nvPr>
        </p:nvSpPr>
        <p:spPr/>
        <p:txBody>
          <a:bodyPr/>
          <a:lstStyle/>
          <a:p>
            <a:pPr algn="l"/>
            <a:r>
              <a:rPr lang="en-IN" dirty="0"/>
              <a:t>Certificates earned</a:t>
            </a:r>
          </a:p>
        </p:txBody>
      </p:sp>
      <p:pic>
        <p:nvPicPr>
          <p:cNvPr id="4" name="Content Placeholder 3">
            <a:extLst>
              <a:ext uri="{FF2B5EF4-FFF2-40B4-BE49-F238E27FC236}">
                <a16:creationId xmlns:a16="http://schemas.microsoft.com/office/drawing/2014/main" id="{C9A6B849-952A-4BD2-B8CE-2E3A883441CC}"/>
              </a:ext>
            </a:extLst>
          </p:cNvPr>
          <p:cNvPicPr>
            <a:picLocks noGrp="1" noChangeAspect="1"/>
          </p:cNvPicPr>
          <p:nvPr>
            <p:ph sz="quarter" idx="13"/>
          </p:nvPr>
        </p:nvPicPr>
        <p:blipFill rotWithShape="1">
          <a:blip r:embed="rId2"/>
          <a:srcRect t="24744" b="33522"/>
          <a:stretch/>
        </p:blipFill>
        <p:spPr>
          <a:xfrm>
            <a:off x="1330037" y="1792174"/>
            <a:ext cx="8409709" cy="4179135"/>
          </a:xfrm>
          <a:prstGeom prst="rect">
            <a:avLst/>
          </a:prstGeom>
        </p:spPr>
      </p:pic>
    </p:spTree>
    <p:extLst>
      <p:ext uri="{BB962C8B-B14F-4D97-AF65-F5344CB8AC3E}">
        <p14:creationId xmlns:p14="http://schemas.microsoft.com/office/powerpoint/2010/main" val="4279111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9A58-5261-4A09-82A8-82A090DB1C86}"/>
              </a:ext>
            </a:extLst>
          </p:cNvPr>
          <p:cNvSpPr>
            <a:spLocks noGrp="1"/>
          </p:cNvSpPr>
          <p:nvPr>
            <p:ph type="title"/>
          </p:nvPr>
        </p:nvSpPr>
        <p:spPr>
          <a:xfrm>
            <a:off x="913775" y="618518"/>
            <a:ext cx="10364451" cy="379009"/>
          </a:xfrm>
        </p:spPr>
        <p:txBody>
          <a:bodyPr>
            <a:normAutofit fontScale="90000"/>
          </a:bodyPr>
          <a:lstStyle/>
          <a:p>
            <a:pPr algn="l"/>
            <a:r>
              <a:rPr lang="en-IN" dirty="0"/>
              <a:t>Certificates earned</a:t>
            </a:r>
          </a:p>
        </p:txBody>
      </p:sp>
      <p:pic>
        <p:nvPicPr>
          <p:cNvPr id="4" name="Content Placeholder 3">
            <a:extLst>
              <a:ext uri="{FF2B5EF4-FFF2-40B4-BE49-F238E27FC236}">
                <a16:creationId xmlns:a16="http://schemas.microsoft.com/office/drawing/2014/main" id="{90B67D56-062E-4F9F-81F6-30C1E5DE844F}"/>
              </a:ext>
            </a:extLst>
          </p:cNvPr>
          <p:cNvPicPr>
            <a:picLocks noGrp="1" noChangeAspect="1"/>
          </p:cNvPicPr>
          <p:nvPr>
            <p:ph sz="quarter" idx="13"/>
          </p:nvPr>
        </p:nvPicPr>
        <p:blipFill rotWithShape="1">
          <a:blip r:embed="rId2"/>
          <a:srcRect t="22644" b="34706"/>
          <a:stretch/>
        </p:blipFill>
        <p:spPr>
          <a:xfrm>
            <a:off x="665020" y="1103155"/>
            <a:ext cx="5043054" cy="2698195"/>
          </a:xfrm>
          <a:prstGeom prst="rect">
            <a:avLst/>
          </a:prstGeom>
        </p:spPr>
      </p:pic>
      <p:pic>
        <p:nvPicPr>
          <p:cNvPr id="3" name="Picture 2">
            <a:extLst>
              <a:ext uri="{FF2B5EF4-FFF2-40B4-BE49-F238E27FC236}">
                <a16:creationId xmlns:a16="http://schemas.microsoft.com/office/drawing/2014/main" id="{7DA8DD24-F68B-4A23-85BF-9AC274E17FF0}"/>
              </a:ext>
            </a:extLst>
          </p:cNvPr>
          <p:cNvPicPr>
            <a:picLocks noChangeAspect="1"/>
          </p:cNvPicPr>
          <p:nvPr/>
        </p:nvPicPr>
        <p:blipFill rotWithShape="1">
          <a:blip r:embed="rId3"/>
          <a:srcRect l="34940" t="23485" r="35170" b="27677"/>
          <a:stretch/>
        </p:blipFill>
        <p:spPr>
          <a:xfrm>
            <a:off x="5999018" y="1215715"/>
            <a:ext cx="5043054" cy="2698196"/>
          </a:xfrm>
          <a:prstGeom prst="rect">
            <a:avLst/>
          </a:prstGeom>
        </p:spPr>
      </p:pic>
      <p:pic>
        <p:nvPicPr>
          <p:cNvPr id="5" name="Picture 4">
            <a:extLst>
              <a:ext uri="{FF2B5EF4-FFF2-40B4-BE49-F238E27FC236}">
                <a16:creationId xmlns:a16="http://schemas.microsoft.com/office/drawing/2014/main" id="{45571AE8-4E1F-4CA3-B913-10B44E931598}"/>
              </a:ext>
            </a:extLst>
          </p:cNvPr>
          <p:cNvPicPr>
            <a:picLocks noChangeAspect="1"/>
          </p:cNvPicPr>
          <p:nvPr/>
        </p:nvPicPr>
        <p:blipFill rotWithShape="1">
          <a:blip r:embed="rId4"/>
          <a:srcRect l="41444" t="34099" r="43155" b="42626"/>
          <a:stretch/>
        </p:blipFill>
        <p:spPr>
          <a:xfrm>
            <a:off x="2286000" y="4019538"/>
            <a:ext cx="6511635" cy="2698194"/>
          </a:xfrm>
          <a:prstGeom prst="rect">
            <a:avLst/>
          </a:prstGeom>
        </p:spPr>
      </p:pic>
    </p:spTree>
    <p:extLst>
      <p:ext uri="{BB962C8B-B14F-4D97-AF65-F5344CB8AC3E}">
        <p14:creationId xmlns:p14="http://schemas.microsoft.com/office/powerpoint/2010/main" val="3633356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01FC6-7111-4A93-9480-E997F463908D}"/>
              </a:ext>
            </a:extLst>
          </p:cNvPr>
          <p:cNvSpPr>
            <a:spLocks noGrp="1"/>
          </p:cNvSpPr>
          <p:nvPr>
            <p:ph type="ctrTitle"/>
          </p:nvPr>
        </p:nvSpPr>
        <p:spPr/>
        <p:txBody>
          <a:bodyPr/>
          <a:lstStyle/>
          <a:p>
            <a:r>
              <a:rPr lang="en-IN" dirty="0"/>
              <a:t>Thank you </a:t>
            </a:r>
          </a:p>
        </p:txBody>
      </p:sp>
      <p:sp>
        <p:nvSpPr>
          <p:cNvPr id="3" name="Subtitle 2">
            <a:extLst>
              <a:ext uri="{FF2B5EF4-FFF2-40B4-BE49-F238E27FC236}">
                <a16:creationId xmlns:a16="http://schemas.microsoft.com/office/drawing/2014/main" id="{83E60033-3B84-477E-9BBB-8A4A458DC395}"/>
              </a:ext>
            </a:extLst>
          </p:cNvPr>
          <p:cNvSpPr>
            <a:spLocks noGrp="1"/>
          </p:cNvSpPr>
          <p:nvPr>
            <p:ph type="subTitle" idx="1"/>
          </p:nvPr>
        </p:nvSpPr>
        <p:spPr/>
        <p:txBody>
          <a:bodyPr/>
          <a:lstStyle/>
          <a:p>
            <a:r>
              <a:rPr lang="en-IN" dirty="0"/>
              <a:t>Thank you for your time and patience</a:t>
            </a:r>
          </a:p>
        </p:txBody>
      </p:sp>
    </p:spTree>
    <p:extLst>
      <p:ext uri="{BB962C8B-B14F-4D97-AF65-F5344CB8AC3E}">
        <p14:creationId xmlns:p14="http://schemas.microsoft.com/office/powerpoint/2010/main" val="376752747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347</TotalTime>
  <Words>888</Words>
  <Application>Microsoft Office PowerPoint</Application>
  <PresentationFormat>Widescreen</PresentationFormat>
  <Paragraphs>160</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Tw Cen MT</vt:lpstr>
      <vt:lpstr>Droplet</vt:lpstr>
      <vt:lpstr> Fitness Champion:  An Ai Powered Fitness And Wellness Coaching Agent                     </vt:lpstr>
      <vt:lpstr>Domain of project   health &amp;fitness </vt:lpstr>
      <vt:lpstr>PowerPoint Presentation</vt:lpstr>
      <vt:lpstr>Current challenge </vt:lpstr>
      <vt:lpstr>Project Goals</vt:lpstr>
      <vt:lpstr>Proposed solution</vt:lpstr>
      <vt:lpstr>Technology used</vt:lpstr>
      <vt:lpstr>Orchestrate agent component used</vt:lpstr>
      <vt:lpstr>AGENT WORKFLOW</vt:lpstr>
      <vt:lpstr>Role of agentic ai in the solution</vt:lpstr>
      <vt:lpstr>uniqueness</vt:lpstr>
      <vt:lpstr>Testing ai agent</vt:lpstr>
      <vt:lpstr>Testing &amp; deploying</vt:lpstr>
      <vt:lpstr>Github link</vt:lpstr>
      <vt:lpstr>Future scope</vt:lpstr>
      <vt:lpstr>Certificates earned</vt:lpstr>
      <vt:lpstr>Certificates earned</vt:lpstr>
      <vt:lpstr>Certificates earned</vt:lpstr>
      <vt:lpstr>Certificates earned</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33</cp:revision>
  <dcterms:created xsi:type="dcterms:W3CDTF">2026-07-12T15:22:38Z</dcterms:created>
  <dcterms:modified xsi:type="dcterms:W3CDTF">2026-07-14T09:18:36Z</dcterms:modified>
</cp:coreProperties>
</file>